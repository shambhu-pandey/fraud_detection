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1"/>
  </p:notesMasterIdLst>
  <p:sldIdLst>
    <p:sldId id="256" r:id="rId2"/>
    <p:sldId id="324" r:id="rId3"/>
    <p:sldId id="259" r:id="rId4"/>
    <p:sldId id="260" r:id="rId5"/>
    <p:sldId id="325" r:id="rId6"/>
    <p:sldId id="264" r:id="rId7"/>
    <p:sldId id="323" r:id="rId8"/>
    <p:sldId id="333" r:id="rId9"/>
    <p:sldId id="334" r:id="rId10"/>
    <p:sldId id="265" r:id="rId11"/>
    <p:sldId id="345" r:id="rId12"/>
    <p:sldId id="312" r:id="rId13"/>
    <p:sldId id="344" r:id="rId14"/>
    <p:sldId id="336" r:id="rId15"/>
    <p:sldId id="328" r:id="rId16"/>
    <p:sldId id="337" r:id="rId17"/>
    <p:sldId id="330" r:id="rId18"/>
    <p:sldId id="331" r:id="rId19"/>
    <p:sldId id="338" r:id="rId20"/>
    <p:sldId id="339" r:id="rId21"/>
    <p:sldId id="340" r:id="rId22"/>
    <p:sldId id="332" r:id="rId23"/>
    <p:sldId id="342" r:id="rId24"/>
    <p:sldId id="343" r:id="rId25"/>
    <p:sldId id="327" r:id="rId26"/>
    <p:sldId id="316" r:id="rId27"/>
    <p:sldId id="317" r:id="rId28"/>
    <p:sldId id="318" r:id="rId29"/>
    <p:sldId id="321" r:id="rId30"/>
  </p:sldIdLst>
  <p:sldSz cx="12801600" cy="7315200"/>
  <p:notesSz cx="6858000" cy="9144000"/>
  <p:defaultTextStyle>
    <a:defPPr>
      <a:defRPr lang="en-US"/>
    </a:defPPr>
    <a:lvl1pPr marL="0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1pPr>
    <a:lvl2pPr marL="574724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2pPr>
    <a:lvl3pPr marL="1149448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3pPr>
    <a:lvl4pPr marL="1724172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4pPr>
    <a:lvl5pPr marL="2298895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5pPr>
    <a:lvl6pPr marL="2873621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6pPr>
    <a:lvl7pPr marL="3448344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7pPr>
    <a:lvl8pPr marL="4023069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8pPr>
    <a:lvl9pPr marL="4597793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>
          <p15:clr>
            <a:srgbClr val="A4A3A4"/>
          </p15:clr>
        </p15:guide>
        <p15:guide id="2" pos="40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E1F2"/>
    <a:srgbClr val="558ED5"/>
    <a:srgbClr val="C6D9F1"/>
    <a:srgbClr val="558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68" y="40"/>
      </p:cViewPr>
      <p:guideLst>
        <p:guide orient="horz" pos="2304"/>
        <p:guide pos="4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CD7A36-15CF-4B40-B7C9-B299C824610E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685800"/>
            <a:ext cx="6000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DE4103-D868-498D-BB7B-ABDA25F97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365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74724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49448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724172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298895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873621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448344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023069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597793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DE4103-D868-498D-BB7B-ABDA25F9744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087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2272456"/>
            <a:ext cx="10881360" cy="15680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0240" y="4145280"/>
            <a:ext cx="8961120" cy="18694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747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9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241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98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736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483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230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97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E1E87-9C15-4984-91E0-215221CAF7F6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82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16BE9-D6CB-4D14-A12D-7F5512E1435B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61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238" y="4700695"/>
            <a:ext cx="10881360" cy="1452880"/>
          </a:xfrm>
        </p:spPr>
        <p:txBody>
          <a:bodyPr anchor="t"/>
          <a:lstStyle>
            <a:lvl1pPr algn="l">
              <a:defRPr sz="51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238" y="3100496"/>
            <a:ext cx="10881360" cy="1600199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4724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2pPr>
            <a:lvl3pPr marL="114944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2417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29889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87362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44834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402306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59779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A9D04-24B9-408C-A000-3B78FDBD0AEB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23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0" y="1706880"/>
            <a:ext cx="5654040" cy="4827694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7480" y="1706880"/>
            <a:ext cx="5654040" cy="4827694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91B48-F2B5-44C0-A324-732125246729}" type="datetime1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833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37454"/>
            <a:ext cx="5656263" cy="68241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724" indent="0">
              <a:buNone/>
              <a:defRPr sz="2500" b="1"/>
            </a:lvl2pPr>
            <a:lvl3pPr marL="1149448" indent="0">
              <a:buNone/>
              <a:defRPr sz="2300" b="1"/>
            </a:lvl3pPr>
            <a:lvl4pPr marL="1724172" indent="0">
              <a:buNone/>
              <a:defRPr sz="2000" b="1"/>
            </a:lvl4pPr>
            <a:lvl5pPr marL="2298895" indent="0">
              <a:buNone/>
              <a:defRPr sz="2000" b="1"/>
            </a:lvl5pPr>
            <a:lvl6pPr marL="2873621" indent="0">
              <a:buNone/>
              <a:defRPr sz="2000" b="1"/>
            </a:lvl6pPr>
            <a:lvl7pPr marL="3448344" indent="0">
              <a:buNone/>
              <a:defRPr sz="2000" b="1"/>
            </a:lvl7pPr>
            <a:lvl8pPr marL="4023069" indent="0">
              <a:buNone/>
              <a:defRPr sz="2000" b="1"/>
            </a:lvl8pPr>
            <a:lvl9pPr marL="4597793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" y="2319868"/>
            <a:ext cx="5656263" cy="4214707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03037" y="1637454"/>
            <a:ext cx="5658485" cy="68241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724" indent="0">
              <a:buNone/>
              <a:defRPr sz="2500" b="1"/>
            </a:lvl2pPr>
            <a:lvl3pPr marL="1149448" indent="0">
              <a:buNone/>
              <a:defRPr sz="2300" b="1"/>
            </a:lvl3pPr>
            <a:lvl4pPr marL="1724172" indent="0">
              <a:buNone/>
              <a:defRPr sz="2000" b="1"/>
            </a:lvl4pPr>
            <a:lvl5pPr marL="2298895" indent="0">
              <a:buNone/>
              <a:defRPr sz="2000" b="1"/>
            </a:lvl5pPr>
            <a:lvl6pPr marL="2873621" indent="0">
              <a:buNone/>
              <a:defRPr sz="2000" b="1"/>
            </a:lvl6pPr>
            <a:lvl7pPr marL="3448344" indent="0">
              <a:buNone/>
              <a:defRPr sz="2000" b="1"/>
            </a:lvl7pPr>
            <a:lvl8pPr marL="4023069" indent="0">
              <a:buNone/>
              <a:defRPr sz="2000" b="1"/>
            </a:lvl8pPr>
            <a:lvl9pPr marL="4597793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3037" y="2319868"/>
            <a:ext cx="5658485" cy="4214707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37E91-F602-4F18-92CA-FB1A231376B0}" type="datetime1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7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18EFE-411D-495F-AE32-482368671348}" type="datetime1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217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129DD-E279-4A67-BA32-75987FE76FB7}" type="datetime1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10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2" y="291252"/>
            <a:ext cx="4211638" cy="1239521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5070" y="291255"/>
            <a:ext cx="7156450" cy="6243321"/>
          </a:xfrm>
        </p:spPr>
        <p:txBody>
          <a:bodyPr/>
          <a:lstStyle>
            <a:lvl1pPr>
              <a:defRPr sz="39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2" y="1530775"/>
            <a:ext cx="4211638" cy="5003802"/>
          </a:xfrm>
        </p:spPr>
        <p:txBody>
          <a:bodyPr/>
          <a:lstStyle>
            <a:lvl1pPr marL="0" indent="0">
              <a:buNone/>
              <a:defRPr sz="1800"/>
            </a:lvl1pPr>
            <a:lvl2pPr marL="574724" indent="0">
              <a:buNone/>
              <a:defRPr sz="1500"/>
            </a:lvl2pPr>
            <a:lvl3pPr marL="1149448" indent="0">
              <a:buNone/>
              <a:defRPr sz="1300"/>
            </a:lvl3pPr>
            <a:lvl4pPr marL="1724172" indent="0">
              <a:buNone/>
              <a:defRPr sz="1100"/>
            </a:lvl4pPr>
            <a:lvl5pPr marL="2298895" indent="0">
              <a:buNone/>
              <a:defRPr sz="1100"/>
            </a:lvl5pPr>
            <a:lvl6pPr marL="2873621" indent="0">
              <a:buNone/>
              <a:defRPr sz="1100"/>
            </a:lvl6pPr>
            <a:lvl7pPr marL="3448344" indent="0">
              <a:buNone/>
              <a:defRPr sz="1100"/>
            </a:lvl7pPr>
            <a:lvl8pPr marL="4023069" indent="0">
              <a:buNone/>
              <a:defRPr sz="1100"/>
            </a:lvl8pPr>
            <a:lvl9pPr marL="459779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A02B-9B73-458F-B848-E99C8FA83242}" type="datetime1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43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9203" y="5120640"/>
            <a:ext cx="7680960" cy="604521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09203" y="653626"/>
            <a:ext cx="7680960" cy="4389120"/>
          </a:xfrm>
        </p:spPr>
        <p:txBody>
          <a:bodyPr/>
          <a:lstStyle>
            <a:lvl1pPr marL="0" indent="0">
              <a:buNone/>
              <a:defRPr sz="3900"/>
            </a:lvl1pPr>
            <a:lvl2pPr marL="574724" indent="0">
              <a:buNone/>
              <a:defRPr sz="3500"/>
            </a:lvl2pPr>
            <a:lvl3pPr marL="1149448" indent="0">
              <a:buNone/>
              <a:defRPr sz="3000"/>
            </a:lvl3pPr>
            <a:lvl4pPr marL="1724172" indent="0">
              <a:buNone/>
              <a:defRPr sz="2500"/>
            </a:lvl4pPr>
            <a:lvl5pPr marL="2298895" indent="0">
              <a:buNone/>
              <a:defRPr sz="2500"/>
            </a:lvl5pPr>
            <a:lvl6pPr marL="2873621" indent="0">
              <a:buNone/>
              <a:defRPr sz="2500"/>
            </a:lvl6pPr>
            <a:lvl7pPr marL="3448344" indent="0">
              <a:buNone/>
              <a:defRPr sz="2500"/>
            </a:lvl7pPr>
            <a:lvl8pPr marL="4023069" indent="0">
              <a:buNone/>
              <a:defRPr sz="2500"/>
            </a:lvl8pPr>
            <a:lvl9pPr marL="4597793" indent="0">
              <a:buNone/>
              <a:defRPr sz="2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09203" y="5725161"/>
            <a:ext cx="7680960" cy="858519"/>
          </a:xfrm>
        </p:spPr>
        <p:txBody>
          <a:bodyPr/>
          <a:lstStyle>
            <a:lvl1pPr marL="0" indent="0">
              <a:buNone/>
              <a:defRPr sz="1800"/>
            </a:lvl1pPr>
            <a:lvl2pPr marL="574724" indent="0">
              <a:buNone/>
              <a:defRPr sz="1500"/>
            </a:lvl2pPr>
            <a:lvl3pPr marL="1149448" indent="0">
              <a:buNone/>
              <a:defRPr sz="1300"/>
            </a:lvl3pPr>
            <a:lvl4pPr marL="1724172" indent="0">
              <a:buNone/>
              <a:defRPr sz="1100"/>
            </a:lvl4pPr>
            <a:lvl5pPr marL="2298895" indent="0">
              <a:buNone/>
              <a:defRPr sz="1100"/>
            </a:lvl5pPr>
            <a:lvl6pPr marL="2873621" indent="0">
              <a:buNone/>
              <a:defRPr sz="1100"/>
            </a:lvl6pPr>
            <a:lvl7pPr marL="3448344" indent="0">
              <a:buNone/>
              <a:defRPr sz="1100"/>
            </a:lvl7pPr>
            <a:lvl8pPr marL="4023069" indent="0">
              <a:buNone/>
              <a:defRPr sz="1100"/>
            </a:lvl8pPr>
            <a:lvl9pPr marL="459779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52997-1B9E-4EF2-B260-9EB38D81F553}" type="datetime1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600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370E5-7D69-44CE-AE73-71BFC3B68EE4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0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81160" y="292948"/>
            <a:ext cx="2880360" cy="624162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0" y="292948"/>
            <a:ext cx="8427720" cy="62416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F8B80-F83C-48AA-AA3F-63D37C1606D6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135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080" y="292946"/>
            <a:ext cx="11521440" cy="1219200"/>
          </a:xfrm>
          <a:prstGeom prst="rect">
            <a:avLst/>
          </a:prstGeom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706880"/>
            <a:ext cx="11521440" cy="4827694"/>
          </a:xfrm>
          <a:prstGeom prst="rect">
            <a:avLst/>
          </a:prstGeom>
        </p:spPr>
        <p:txBody>
          <a:bodyPr vert="horz" lIns="114945" tIns="57473" rIns="114945" bIns="5747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C8E2D-1657-4F9E-9BA7-8881C66FCBC2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73880" y="6780107"/>
            <a:ext cx="40538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744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38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1149448" rtl="0" eaLnBrk="1" latinLnBrk="0" hangingPunct="1">
        <a:spcBef>
          <a:spcPct val="0"/>
        </a:spcBef>
        <a:buNone/>
        <a:defRPr sz="5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1044" indent="-431044" algn="l" defTabSz="1149448" rtl="0" eaLnBrk="1" latinLnBrk="0" hangingPunct="1">
        <a:spcBef>
          <a:spcPct val="20000"/>
        </a:spcBef>
        <a:buFont typeface="Arial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933926" indent="-359202" algn="l" defTabSz="1149448" rtl="0" eaLnBrk="1" latinLnBrk="0" hangingPunct="1">
        <a:spcBef>
          <a:spcPct val="20000"/>
        </a:spcBef>
        <a:buFont typeface="Arial" pitchFamily="34" charset="0"/>
        <a:buChar char="–"/>
        <a:defRPr sz="3500" kern="1200">
          <a:solidFill>
            <a:schemeClr val="tx1"/>
          </a:solidFill>
          <a:latin typeface="+mn-lt"/>
          <a:ea typeface="+mn-ea"/>
          <a:cs typeface="+mn-cs"/>
        </a:defRPr>
      </a:lvl2pPr>
      <a:lvl3pPr marL="1436810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011534" indent="-287362" algn="l" defTabSz="1149448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86258" indent="-287362" algn="l" defTabSz="1149448" rtl="0" eaLnBrk="1" latinLnBrk="0" hangingPunct="1">
        <a:spcBef>
          <a:spcPct val="20000"/>
        </a:spcBef>
        <a:buFont typeface="Arial" pitchFamily="34" charset="0"/>
        <a:buChar char="»"/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160983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35707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310430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85155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4724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49448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24172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98895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73621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48344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23069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97793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c:/Users/REALME/AppData/Local/Programs/Microsoft%20VS%20Code/e7fb5e96c0/resources/app/out/vs/code/electron-browser/workbench/workbench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801600" cy="1600199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r>
              <a:rPr lang="en-US" sz="39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Digital twin Enabled Framework for Forecasting and Mitigating Fraud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6920" y="3088640"/>
            <a:ext cx="8961120" cy="3982720"/>
          </a:xfrm>
        </p:spPr>
        <p:txBody>
          <a:bodyPr>
            <a:normAutofit fontScale="47500" lnSpcReduction="20000"/>
          </a:bodyPr>
          <a:lstStyle/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PASET697 Project Work Review-II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Presented by</a:t>
            </a:r>
          </a:p>
          <a:p>
            <a:endParaRPr lang="en-US" sz="4400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SHAMBHU PANDEY(25MCA1020)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MASTER OF COMPUTER APPLICATIONS (MCA)</a:t>
            </a:r>
          </a:p>
          <a:p>
            <a:endParaRPr lang="en-US" sz="4400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Under the Guidance of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DR. TAMILARASI K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Assistant Professor Sr. Grade 1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School of Computer Science and Engineering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Vellore Institute of Technology, Chennai</a:t>
            </a:r>
            <a:r>
              <a:rPr lang="en-US" sz="4400" dirty="0"/>
              <a:t>.</a:t>
            </a:r>
          </a:p>
          <a:p>
            <a:endParaRPr lang="en-US" dirty="0"/>
          </a:p>
        </p:txBody>
      </p:sp>
      <p:pic>
        <p:nvPicPr>
          <p:cNvPr id="1026" name="Picture 2" descr="VIT Logo">
            <a:extLst>
              <a:ext uri="{FF2B5EF4-FFF2-40B4-BE49-F238E27FC236}">
                <a16:creationId xmlns:a16="http://schemas.microsoft.com/office/drawing/2014/main" id="{3480622C-94EE-8879-D91B-FCEDA7BB9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2591" y="1831079"/>
            <a:ext cx="4716417" cy="1289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9843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</a:t>
            </a:fld>
            <a:endParaRPr lang="en-US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40080" y="1706880"/>
            <a:ext cx="11521440" cy="4827694"/>
          </a:xfrm>
          <a:prstGeom prst="rect">
            <a:avLst/>
          </a:prstGeom>
        </p:spPr>
        <p:txBody>
          <a:bodyPr vert="horz" lIns="114945" tIns="57473" rIns="114945" bIns="57473" rtlCol="0">
            <a:normAutofit fontScale="85000" lnSpcReduction="20000"/>
          </a:bodyPr>
          <a:lstStyle>
            <a:lvl1pPr marL="431044" indent="-431044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3926" indent="-359202" algn="l" defTabSz="114944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36810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11534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86258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60983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35707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10430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85155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 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IDENTIFICATION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&amp; INTEGRATION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/ RESEARCH FRAMEWORK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/ GANTT CHART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490154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1.ABSTRACT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06880"/>
            <a:ext cx="11704320" cy="482769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2000" dirty="0"/>
              <a:t>The rapid growth of fraud has made automated detection essential. This project builds a practical, easy-to-use fraud detection system that automatically flags suspicious payment transactions. Using multiple public datasets (</a:t>
            </a:r>
            <a:r>
              <a:rPr lang="en-GB" sz="2000" dirty="0" err="1"/>
              <a:t>PaySim</a:t>
            </a:r>
            <a:r>
              <a:rPr lang="en-GB" sz="2000" dirty="0"/>
              <a:t>, CICIDS, IEEE, </a:t>
            </a:r>
            <a:r>
              <a:rPr lang="en-GB" sz="2000" dirty="0" err="1"/>
              <a:t>BankSim</a:t>
            </a:r>
            <a:r>
              <a:rPr lang="en-GB" sz="2000" dirty="0"/>
              <a:t>), the pipeline cleans and standardizes data, performs feature engineering (time, device, aggregates, categorical encodings), and trains supervised and anomaly-aware models — Logistic Regression, Random Forest, </a:t>
            </a:r>
            <a:r>
              <a:rPr lang="en-GB" sz="2000" dirty="0" err="1"/>
              <a:t>XGBoost</a:t>
            </a:r>
            <a:r>
              <a:rPr lang="en-GB" sz="2000" dirty="0"/>
              <a:t>, and Isolation Forest. Models are evaluated using cross‑validation and dataset‑specific threshold tuning to balance missed frauds and false alarms. The system includes SHAP/LIME explanations so investigators can see which features influenced each prediction. A </a:t>
            </a:r>
            <a:r>
              <a:rPr lang="en-GB" sz="2000" dirty="0" err="1"/>
              <a:t>Streamlit</a:t>
            </a:r>
            <a:r>
              <a:rPr lang="en-GB" sz="2000" dirty="0"/>
              <a:t> dashboard provides live prediction, risk scoring, and visualization for quick review. All trained models, thresholds and evaluation reports are saved under </a:t>
            </a:r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models</a:t>
            </a:r>
            <a:r>
              <a:rPr lang="en-GB" sz="2000" dirty="0"/>
              <a:t> for reproducibility and future deployment. Outcome: a near‑real‑time prototype that reduces undetected fraud, produces interpretable alerts for analysts, and is ready for integration into operational monitoring and automated alerting pipelines.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943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9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Rapid growth of digital payments has increased fraud risk across banks and UPI services.</a:t>
            </a:r>
          </a:p>
          <a:p>
            <a:r>
              <a:rPr lang="en-GB" dirty="0"/>
              <a:t>Aim: build a reliable system to detect fraudulent transactions quickly and reduce financial loss.</a:t>
            </a:r>
          </a:p>
          <a:p>
            <a:r>
              <a:rPr lang="en-GB" dirty="0"/>
              <a:t>Approach: clean and standardize datasets (</a:t>
            </a:r>
            <a:r>
              <a:rPr lang="en-GB" dirty="0" err="1"/>
              <a:t>PaySim</a:t>
            </a:r>
            <a:r>
              <a:rPr lang="en-GB" dirty="0"/>
              <a:t>, CICIDS, IEEE, </a:t>
            </a:r>
            <a:r>
              <a:rPr lang="en-GB" dirty="0" err="1"/>
              <a:t>BankSim</a:t>
            </a:r>
            <a:r>
              <a:rPr lang="en-GB" dirty="0"/>
              <a:t>), engineer features (time, device, aggregates, encodings).</a:t>
            </a:r>
          </a:p>
          <a:p>
            <a:r>
              <a:rPr lang="en-GB" dirty="0"/>
              <a:t>Models used: Logistic Regression, Random Forest, </a:t>
            </a:r>
            <a:r>
              <a:rPr lang="en-GB" dirty="0" err="1"/>
              <a:t>XGBoost</a:t>
            </a:r>
            <a:r>
              <a:rPr lang="en-GB" dirty="0"/>
              <a:t>, Isolation Forest; tuned per dataset with threshold selection.</a:t>
            </a:r>
          </a:p>
          <a:p>
            <a:r>
              <a:rPr lang="en-GB" dirty="0"/>
              <a:t>Interface: </a:t>
            </a:r>
            <a:r>
              <a:rPr lang="en-GB" dirty="0" err="1"/>
              <a:t>Streamlit</a:t>
            </a:r>
            <a:r>
              <a:rPr lang="en-GB" dirty="0"/>
              <a:t> dashboard for live prediction, risk score, and SHAP explanations for each transaction.</a:t>
            </a:r>
          </a:p>
          <a:p>
            <a:r>
              <a:rPr lang="en-GB" dirty="0"/>
              <a:t>Outcome: a clear, near‑real‑time prototype that flags likely fraud and gives interpretable alerts for analysts.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974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3.LITERATURE SURVEY</a:t>
            </a:r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7188463"/>
              </p:ext>
            </p:extLst>
          </p:nvPr>
        </p:nvGraphicFramePr>
        <p:xfrm>
          <a:off x="228600" y="1512147"/>
          <a:ext cx="12344401" cy="5666934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41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8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38067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638322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128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Article  Title 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61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b="1">
                          <a:effectLst/>
                        </a:rPr>
                        <a:t>1</a:t>
                      </a:r>
                      <a:endParaRPr lang="en-GB">
                        <a:effectLst/>
                      </a:endParaRPr>
                    </a:p>
                  </a:txBody>
                  <a:tcPr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 dirty="0">
                          <a:effectLst/>
                        </a:rPr>
                        <a:t>"</a:t>
                      </a:r>
                      <a:r>
                        <a:rPr lang="en-GB" sz="2000" dirty="0" err="1">
                          <a:effectLst/>
                        </a:rPr>
                        <a:t>PaySim</a:t>
                      </a:r>
                      <a:r>
                        <a:rPr lang="en-GB" sz="2000" dirty="0">
                          <a:effectLst/>
                        </a:rPr>
                        <a:t>: A Financial Mobile Money Simulator for Fraud detection"</a:t>
                      </a:r>
                    </a:p>
                  </a:txBody>
                  <a:tcPr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>
                          <a:effectLst/>
                        </a:rPr>
                        <a:t>Agent-based simulation, Synthetic data generation.</a:t>
                      </a:r>
                    </a:p>
                  </a:txBody>
                  <a:tcPr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>
                          <a:effectLst/>
                        </a:rPr>
                        <a:t>Successfully created realistic mobile money data that mirrors real-world fraud patterns.</a:t>
                      </a:r>
                    </a:p>
                  </a:txBody>
                  <a:tcPr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>
                          <a:effectLst/>
                        </a:rPr>
                        <a:t>Only provides synthetic data; missing real-world behavioral noise.</a:t>
                      </a:r>
                    </a:p>
                  </a:txBody>
                  <a:tcPr anchor="ctr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61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b="1">
                          <a:effectLst/>
                        </a:rPr>
                        <a:t>2</a:t>
                      </a:r>
                      <a:endParaRPr lang="en-GB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 dirty="0">
                          <a:effectLst/>
                        </a:rPr>
                        <a:t>"A Unified Approach to Interpreting Model Predictions"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 dirty="0">
                          <a:effectLst/>
                        </a:rPr>
                        <a:t>SHAP (</a:t>
                      </a:r>
                      <a:r>
                        <a:rPr lang="en-GB" sz="2000" dirty="0" err="1">
                          <a:effectLst/>
                        </a:rPr>
                        <a:t>SHapley</a:t>
                      </a:r>
                      <a:r>
                        <a:rPr lang="en-GB" sz="2000" dirty="0">
                          <a:effectLst/>
                        </a:rPr>
                        <a:t> Additive </a:t>
                      </a:r>
                      <a:r>
                        <a:rPr lang="en-GB" sz="2000" dirty="0" err="1">
                          <a:effectLst/>
                        </a:rPr>
                        <a:t>exPlanations</a:t>
                      </a:r>
                      <a:r>
                        <a:rPr lang="en-GB" sz="2000" dirty="0">
                          <a:effectLst/>
                        </a:rPr>
                        <a:t>), Game Theory.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>
                          <a:effectLst/>
                        </a:rPr>
                        <a:t>Establishes a consistent method to explain Why a specific transaction is flagged as fraud.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>
                          <a:effectLst/>
                        </a:rPr>
                        <a:t>SHAP values are computationally expensive for real-time systems.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61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b="1">
                          <a:effectLst/>
                        </a:rPr>
                        <a:t>3</a:t>
                      </a:r>
                      <a:endParaRPr lang="en-GB">
                        <a:effectLst/>
                      </a:endParaRPr>
                    </a:p>
                  </a:txBody>
                  <a:tcPr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>
                          <a:effectLst/>
                        </a:rPr>
                        <a:t>"XGBoost: A Scalable Tree Boosting System"</a:t>
                      </a:r>
                    </a:p>
                  </a:txBody>
                  <a:tcPr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 dirty="0">
                          <a:effectLst/>
                        </a:rPr>
                        <a:t>Gradient Boosting, Sparsity-aware learning.</a:t>
                      </a:r>
                    </a:p>
                  </a:txBody>
                  <a:tcPr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 dirty="0">
                          <a:effectLst/>
                        </a:rPr>
                        <a:t>Found that </a:t>
                      </a:r>
                      <a:r>
                        <a:rPr lang="en-GB" sz="2000" dirty="0" err="1">
                          <a:effectLst/>
                        </a:rPr>
                        <a:t>XGBoost</a:t>
                      </a:r>
                      <a:r>
                        <a:rPr lang="en-GB" sz="2000" dirty="0">
                          <a:effectLst/>
                        </a:rPr>
                        <a:t> is the highest-performing model for structured tabular data.</a:t>
                      </a:r>
                    </a:p>
                  </a:txBody>
                  <a:tcPr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 dirty="0">
                          <a:effectLst/>
                        </a:rPr>
                        <a:t>Requires extensive hyperparameter tuning to avoid overfitting.</a:t>
                      </a:r>
                    </a:p>
                  </a:txBody>
                  <a:tcPr anchor="ctr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61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b="1">
                          <a:effectLst/>
                        </a:rPr>
                        <a:t>4</a:t>
                      </a:r>
                      <a:endParaRPr lang="en-GB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>
                          <a:effectLst/>
                        </a:rPr>
                        <a:t>"Real-time Detection of Financial Fraud using ML"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>
                          <a:effectLst/>
                        </a:rPr>
                        <a:t>Random Forest, Isolation Forest, SMOTE.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 dirty="0">
                          <a:effectLst/>
                        </a:rPr>
                        <a:t>Combining SMOTE resampling with Forest models improves detection of rare fraud cases.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000" dirty="0">
                          <a:effectLst/>
                        </a:rPr>
                        <a:t>Fails to provide zero-latency results for high-frequency UPI transactions.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78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LITERATURE SURVEY (CONTD..,)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1505323"/>
              </p:ext>
            </p:extLst>
          </p:nvPr>
        </p:nvGraphicFramePr>
        <p:xfrm>
          <a:off x="685799" y="1669892"/>
          <a:ext cx="11475720" cy="5425851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03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6894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Article  Title 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800" b="1">
                          <a:effectLst/>
                        </a:rPr>
                        <a:t>5</a:t>
                      </a:r>
                      <a:endParaRPr lang="en-GB" sz="1800">
                        <a:effectLst/>
                      </a:endParaRPr>
                    </a:p>
                  </a:txBody>
                  <a:tcPr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800">
                          <a:effectLst/>
                        </a:rPr>
                        <a:t>"Credit Card Fraud Detection using SMOTE and Random Forest"</a:t>
                      </a:r>
                    </a:p>
                  </a:txBody>
                  <a:tcPr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800" b="1">
                          <a:effectLst/>
                        </a:rPr>
                        <a:t>SMOTE</a:t>
                      </a:r>
                      <a:r>
                        <a:rPr lang="en-GB" sz="1800">
                          <a:effectLst/>
                        </a:rPr>
                        <a:t>, Random Forest, Resampling.</a:t>
                      </a:r>
                    </a:p>
                  </a:txBody>
                  <a:tcPr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800">
                          <a:effectLst/>
                        </a:rPr>
                        <a:t>SMOTE significantly improves the detection (Recall) of rare fraud cases in imbalanced banking data.</a:t>
                      </a:r>
                    </a:p>
                  </a:txBody>
                  <a:tcPr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800">
                          <a:effectLst/>
                        </a:rPr>
                        <a:t>Over-sampling can sometimes lead to overfitting if not carefully validated.</a:t>
                      </a:r>
                    </a:p>
                  </a:txBody>
                  <a:tcPr anchor="ctr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800" b="1">
                          <a:effectLst/>
                        </a:rPr>
                        <a:t>6</a:t>
                      </a:r>
                      <a:endParaRPr lang="en-GB" sz="18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800">
                          <a:effectLst/>
                        </a:rPr>
                        <a:t>"Anomaly Detection in Financial Transactions using Autoencoders"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800">
                          <a:effectLst/>
                        </a:rPr>
                        <a:t>Deep Learning, </a:t>
                      </a:r>
                      <a:r>
                        <a:rPr lang="en-GB" sz="1800" b="1">
                          <a:effectLst/>
                        </a:rPr>
                        <a:t>Autoencoders</a:t>
                      </a:r>
                      <a:r>
                        <a:rPr lang="en-GB" sz="1800">
                          <a:effectLst/>
                        </a:rPr>
                        <a:t>, Anomaly Detection.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800">
                          <a:effectLst/>
                        </a:rPr>
                        <a:t>Neural networks can detect novel, unseen fraud patterns by looking for high reconstruction errors.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800">
                          <a:effectLst/>
                        </a:rPr>
                        <a:t>Requires a very large amount of "normal" data to train the model effectively.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800" b="1">
                          <a:effectLst/>
                        </a:rPr>
                        <a:t>7</a:t>
                      </a:r>
                      <a:endParaRPr lang="en-GB" sz="1800">
                        <a:effectLst/>
                      </a:endParaRPr>
                    </a:p>
                  </a:txBody>
                  <a:tcPr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800">
                          <a:effectLst/>
                        </a:rPr>
                        <a:t>"LIME: A Model-Agnostic Explainer for Fraud Classification"</a:t>
                      </a:r>
                    </a:p>
                  </a:txBody>
                  <a:tcPr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800" b="1">
                          <a:effectLst/>
                        </a:rPr>
                        <a:t>LIME</a:t>
                      </a:r>
                      <a:r>
                        <a:rPr lang="en-GB" sz="1800">
                          <a:effectLst/>
                        </a:rPr>
                        <a:t>, Local Interpretability.</a:t>
                      </a:r>
                    </a:p>
                  </a:txBody>
                  <a:tcPr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800">
                          <a:effectLst/>
                        </a:rPr>
                        <a:t>Provides simple, human-readable explanations for why an individual transaction was blocked.</a:t>
                      </a:r>
                    </a:p>
                  </a:txBody>
                  <a:tcPr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800">
                          <a:effectLst/>
                        </a:rPr>
                        <a:t>Local explanations can sometimes be unstable depending on data noise.</a:t>
                      </a:r>
                    </a:p>
                  </a:txBody>
                  <a:tcPr anchor="ctr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800" b="1">
                          <a:effectLst/>
                        </a:rPr>
                        <a:t>8</a:t>
                      </a:r>
                      <a:endParaRPr lang="en-GB" sz="18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800">
                          <a:effectLst/>
                        </a:rPr>
                        <a:t>"Digital Twins for Cybersecurity in FinTech"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800" b="1">
                          <a:effectLst/>
                        </a:rPr>
                        <a:t>Digital Twin</a:t>
                      </a:r>
                      <a:r>
                        <a:rPr lang="en-GB" sz="1800">
                          <a:effectLst/>
                        </a:rPr>
                        <a:t>, Attack Simulation.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800">
                          <a:effectLst/>
                        </a:rPr>
                        <a:t>Proactive simulation of attack vectors allows developers to build defenses before an attack happens.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800" dirty="0">
                          <a:effectLst/>
                        </a:rPr>
                        <a:t>Creating a high-fidelity digital twin requires massive real-time data integration.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666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LITERATURE SURVEY (CONTD..,)</a:t>
            </a:r>
            <a:endParaRPr lang="en-GB" sz="37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9797935"/>
              </p:ext>
            </p:extLst>
          </p:nvPr>
        </p:nvGraphicFramePr>
        <p:xfrm>
          <a:off x="685800" y="1669893"/>
          <a:ext cx="11658598" cy="5367517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13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43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43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8337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508294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8056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Article  Title 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18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b="1">
                          <a:effectLst/>
                        </a:rPr>
                        <a:t>9</a:t>
                      </a:r>
                      <a:endParaRPr lang="en-GB">
                        <a:effectLst/>
                      </a:endParaRPr>
                    </a:p>
                  </a:txBody>
                  <a:tcPr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dirty="0">
                          <a:effectLst/>
                        </a:rPr>
                        <a:t>"A Comparative Study of ML Models for UPI Fraud Detection"</a:t>
                      </a:r>
                    </a:p>
                  </a:txBody>
                  <a:tcPr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dirty="0">
                          <a:effectLst/>
                        </a:rPr>
                        <a:t>Logistic Regression, Decision Trees, </a:t>
                      </a:r>
                      <a:r>
                        <a:rPr lang="en-GB" b="1" dirty="0" err="1">
                          <a:effectLst/>
                        </a:rPr>
                        <a:t>XGBoost</a:t>
                      </a:r>
                      <a:r>
                        <a:rPr lang="en-GB" dirty="0">
                          <a:effectLst/>
                        </a:rPr>
                        <a:t>.</a:t>
                      </a:r>
                    </a:p>
                  </a:txBody>
                  <a:tcPr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>
                          <a:effectLst/>
                        </a:rPr>
                        <a:t>Ensemble methods like XGBoost consistently outperform single models in complex, high-velocity payment data.</a:t>
                      </a:r>
                    </a:p>
                  </a:txBody>
                  <a:tcPr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>
                          <a:effectLst/>
                        </a:rPr>
                        <a:t>Requires more system memory and processing power than simple linear models.</a:t>
                      </a:r>
                    </a:p>
                  </a:txBody>
                  <a:tcPr anchor="ctr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18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b="1">
                          <a:effectLst/>
                        </a:rPr>
                        <a:t>10</a:t>
                      </a:r>
                      <a:endParaRPr lang="en-GB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>
                          <a:effectLst/>
                        </a:rPr>
                        <a:t>"Addressing Data Imbalance using Hybrid Resampling"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b="1">
                          <a:effectLst/>
                        </a:rPr>
                        <a:t>SMOTE-Tomek</a:t>
                      </a:r>
                      <a:r>
                        <a:rPr lang="en-GB">
                          <a:effectLst/>
                        </a:rPr>
                        <a:t>, Hybrid Resampling techniques.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>
                          <a:effectLst/>
                        </a:rPr>
                        <a:t>Combining oversampling (SMOTE) with undersampling (Tomek Links) creates much cleaner decision boundaries.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dirty="0">
                          <a:effectLst/>
                        </a:rPr>
                        <a:t>Adds complexity to the preprocessing pipeline and requires longer training times.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5243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24EBC-07D1-5582-ECAD-FB015F64B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3089C-2484-51E9-0A89-B13831434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4. RESEARCH GAPS</a:t>
            </a:r>
            <a:endParaRPr lang="en-GB" sz="37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1DF2F-2EFC-F28C-9A44-F9337C42C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8</a:t>
            </a:fld>
            <a:endParaRPr lang="en-US"/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FC1732AA-4E68-0D33-78F8-57065A273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711861"/>
            <a:ext cx="126492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Integrated Framework (AI + Digital Twin)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approaches treat fraud detection and simulation as separate tasks, lacking a unified system for simultaneous detection and prediction.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Application in Financial Fraud Domain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 Twin research is mostly focused on IoT, smart cities, and industrial systems, with minimal application in financial transaction monitoring.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Poor Explainability of AI Models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High-performing models like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operate as black boxes, making it difficult to interpret decisions and reducing trust in critical financial systems.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Reactive Instead of Real-Time Detection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systems detect fraud after transaction completion, leading to delayed response and increased financial risk.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Insufficient Use of Realistic Financial Datasets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Several studies rely on synthetic or generic datasets, which do not fully capture real-world transaction complexity and fraud behavior.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False Positive Rates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models often incorrectly flag legitimate transactions, causing inconvenience to users and reducing system reliability.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Adaptability to Evolving Fraud (Concept Drift)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Fraud patterns continuously evolve, but many models remain static and fail to adapt to new attack strategies.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Scalability and Modular Design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 systems are often tightly coupled and domain-specific, making it difficult to scale across different financial platforms.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Computational Complexity in Explainability Techniques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Methods like SHAP and LIME, while effective, can introduce high computational overhead, limiting their use in real-time systems. </a:t>
            </a:r>
          </a:p>
        </p:txBody>
      </p:sp>
    </p:spTree>
    <p:extLst>
      <p:ext uri="{BB962C8B-B14F-4D97-AF65-F5344CB8AC3E}">
        <p14:creationId xmlns:p14="http://schemas.microsoft.com/office/powerpoint/2010/main" val="4241540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266A5-DEC6-423E-4642-6DAA46905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C9D02-AB68-99CB-182A-0A2671D6B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GB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5. OBJECTIVES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A4E0E-51B9-057E-EB16-03F096791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B75419-357B-98E7-3812-89B2DF6B75D5}"/>
              </a:ext>
            </a:extLst>
          </p:cNvPr>
          <p:cNvSpPr txBox="1"/>
          <p:nvPr/>
        </p:nvSpPr>
        <p:spPr>
          <a:xfrm>
            <a:off x="152400" y="1512146"/>
            <a:ext cx="1165860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1. Develop a Multi-Model ML Pipeline</a:t>
            </a:r>
            <a:r>
              <a:rPr lang="en-GB" dirty="0"/>
              <a:t>: To implement and compare high-performance algorithms like </a:t>
            </a:r>
            <a:r>
              <a:rPr lang="en-GB" b="1" dirty="0" err="1"/>
              <a:t>XGBoost</a:t>
            </a:r>
            <a:r>
              <a:rPr lang="en-GB" b="1" dirty="0"/>
              <a:t>, Random Forest,</a:t>
            </a:r>
            <a:r>
              <a:rPr lang="en-GB" dirty="0"/>
              <a:t> and </a:t>
            </a:r>
            <a:r>
              <a:rPr lang="en-GB" b="1" dirty="0"/>
              <a:t>Autoencoders</a:t>
            </a:r>
            <a:r>
              <a:rPr lang="en-GB" dirty="0"/>
              <a:t> for precise fraud classification.</a:t>
            </a:r>
          </a:p>
          <a:p>
            <a:r>
              <a:rPr lang="en-GB" b="1" dirty="0"/>
              <a:t>2. Integrate Digital Twin Technology</a:t>
            </a:r>
            <a:r>
              <a:rPr lang="en-GB" dirty="0"/>
              <a:t>: To build a simulation framework for </a:t>
            </a:r>
            <a:r>
              <a:rPr lang="en-GB" b="1" dirty="0"/>
              <a:t>forecasting</a:t>
            </a:r>
            <a:r>
              <a:rPr lang="en-GB" dirty="0"/>
              <a:t> evolving attack scenarios and performing proactive risk analysis.</a:t>
            </a:r>
          </a:p>
          <a:p>
            <a:r>
              <a:rPr lang="en-GB" b="1" dirty="0"/>
              <a:t>3. Implement Explainable AI (XAI)</a:t>
            </a:r>
            <a:r>
              <a:rPr lang="en-GB" dirty="0"/>
              <a:t>: To provide transparent and human-readable reasoning for every fraud prediction using </a:t>
            </a:r>
            <a:r>
              <a:rPr lang="en-GB" b="1" dirty="0"/>
              <a:t>SHAP and LIME</a:t>
            </a:r>
            <a:r>
              <a:rPr lang="en-GB" dirty="0"/>
              <a:t> techniques.</a:t>
            </a:r>
          </a:p>
          <a:p>
            <a:r>
              <a:rPr lang="en-GB" b="1" dirty="0"/>
              <a:t>4. Resilient Data Balancing</a:t>
            </a:r>
            <a:r>
              <a:rPr lang="en-GB" dirty="0"/>
              <a:t>: To ensure the system correctly identifies rare fraud events by applying advanced resampling methods like </a:t>
            </a:r>
            <a:r>
              <a:rPr lang="en-GB" b="1" dirty="0"/>
              <a:t>SMOTE-Tomek</a:t>
            </a:r>
            <a:r>
              <a:rPr lang="en-GB" dirty="0"/>
              <a:t>.</a:t>
            </a:r>
          </a:p>
          <a:p>
            <a:r>
              <a:rPr lang="en-GB" b="1" dirty="0"/>
              <a:t>5. Achieve Real-Time Latency</a:t>
            </a:r>
            <a:r>
              <a:rPr lang="en-GB" dirty="0"/>
              <a:t>: To optimize the system architecture for </a:t>
            </a:r>
            <a:r>
              <a:rPr lang="en-GB" b="1" dirty="0"/>
              <a:t>sub-second processing</a:t>
            </a:r>
            <a:r>
              <a:rPr lang="en-GB" dirty="0"/>
              <a:t>, making it suitable for live UPI transaction monitoring.</a:t>
            </a:r>
          </a:p>
          <a:p>
            <a:r>
              <a:rPr lang="en-GB" b="1" dirty="0"/>
              <a:t>6. Deploy an Interactive Dashboard</a:t>
            </a:r>
            <a:r>
              <a:rPr lang="en-GB" dirty="0"/>
              <a:t>: To create a professional </a:t>
            </a:r>
            <a:r>
              <a:rPr lang="en-GB" b="1" dirty="0" err="1"/>
              <a:t>Streamlit</a:t>
            </a:r>
            <a:r>
              <a:rPr lang="en-GB" b="1" dirty="0"/>
              <a:t> interface</a:t>
            </a:r>
            <a:r>
              <a:rPr lang="en-GB" dirty="0"/>
              <a:t> for real-time monitoring, metric visualization, and risk reporting.</a:t>
            </a:r>
          </a:p>
          <a:p>
            <a:r>
              <a:rPr lang="en-GB" b="1" dirty="0"/>
              <a:t>7. Multi-Domain Validation</a:t>
            </a:r>
            <a:r>
              <a:rPr lang="en-GB" dirty="0"/>
              <a:t>: To test and validate the framework across diverse banking datasets (</a:t>
            </a:r>
            <a:r>
              <a:rPr lang="en-GB" b="1" dirty="0" err="1"/>
              <a:t>PaySim</a:t>
            </a:r>
            <a:r>
              <a:rPr lang="en-GB" b="1" dirty="0"/>
              <a:t>, IEEE-CIS, </a:t>
            </a:r>
            <a:r>
              <a:rPr lang="en-GB" b="1" dirty="0" err="1"/>
              <a:t>BankSim</a:t>
            </a:r>
            <a:r>
              <a:rPr lang="en-GB" dirty="0"/>
              <a:t>) to ensure cross-platform robustness.</a:t>
            </a:r>
          </a:p>
          <a:p>
            <a:r>
              <a:rPr lang="en-GB" b="1" dirty="0"/>
              <a:t>8. Automated Drift Detection</a:t>
            </a:r>
            <a:r>
              <a:rPr lang="en-GB" dirty="0"/>
              <a:t>: To implement monitoring that identifies shifts in fraud patterns (</a:t>
            </a:r>
            <a:r>
              <a:rPr lang="en-GB" b="1" dirty="0"/>
              <a:t>Concept Drift</a:t>
            </a:r>
            <a:r>
              <a:rPr lang="en-GB" dirty="0"/>
              <a:t>) and ensures long-term model reliability.</a:t>
            </a:r>
          </a:p>
        </p:txBody>
      </p:sp>
    </p:spTree>
    <p:extLst>
      <p:ext uri="{BB962C8B-B14F-4D97-AF65-F5344CB8AC3E}">
        <p14:creationId xmlns:p14="http://schemas.microsoft.com/office/powerpoint/2010/main" val="786986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6. MODULE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b="1" dirty="0"/>
              <a:t>Data Ingestion &amp; Multi-Source Loader</a:t>
            </a:r>
            <a:r>
              <a:rPr lang="en-GB" dirty="0"/>
              <a:t>: Handles concurrent loading from </a:t>
            </a:r>
            <a:r>
              <a:rPr lang="en-GB" b="1" dirty="0" err="1"/>
              <a:t>PaySim</a:t>
            </a:r>
            <a:r>
              <a:rPr lang="en-GB" b="1" dirty="0"/>
              <a:t> (CSV), </a:t>
            </a:r>
            <a:r>
              <a:rPr lang="en-GB" b="1" dirty="0" err="1"/>
              <a:t>BankSim</a:t>
            </a:r>
            <a:r>
              <a:rPr lang="en-GB" b="1" dirty="0"/>
              <a:t>, and CICIDS2017</a:t>
            </a:r>
            <a:r>
              <a:rPr lang="en-GB" dirty="0"/>
              <a:t>. Implements automated path resolution and raw data validation checks to ensure data integrity.</a:t>
            </a:r>
          </a:p>
          <a:p>
            <a:r>
              <a:rPr lang="en-GB" b="1" dirty="0"/>
              <a:t>Automated Preprocessing &amp; Cleaning</a:t>
            </a:r>
            <a:r>
              <a:rPr lang="en-GB" dirty="0"/>
              <a:t>: Executes missing value treatment, outlier detection through </a:t>
            </a:r>
            <a:r>
              <a:rPr lang="en-GB" b="1" dirty="0"/>
              <a:t>Z-score analysis</a:t>
            </a:r>
            <a:r>
              <a:rPr lang="en-GB" dirty="0"/>
              <a:t>, and feature-specific normalization using </a:t>
            </a:r>
            <a:r>
              <a:rPr lang="en-GB" b="1" dirty="0"/>
              <a:t>Min-Max Scaling</a:t>
            </a:r>
            <a:r>
              <a:rPr lang="en-GB" dirty="0"/>
              <a:t> to ensure uniform model inputs.</a:t>
            </a:r>
          </a:p>
          <a:p>
            <a:r>
              <a:rPr lang="en-GB" b="1" dirty="0"/>
              <a:t>Class Imbalance Resolution Module</a:t>
            </a:r>
            <a:r>
              <a:rPr lang="en-GB" dirty="0"/>
              <a:t>: Deploys a hybrid </a:t>
            </a:r>
            <a:r>
              <a:rPr lang="en-GB" b="1" dirty="0"/>
              <a:t>SMOTE-Tomek Links</a:t>
            </a:r>
            <a:r>
              <a:rPr lang="en-GB" dirty="0"/>
              <a:t> resampling technique to restore the minority fraud class (needle-in-a-haystack) without introducing synthetic noise patterns.</a:t>
            </a:r>
          </a:p>
          <a:p>
            <a:r>
              <a:rPr lang="en-GB" b="1" dirty="0"/>
              <a:t>Feature Engineering &amp; Selection Layer</a:t>
            </a:r>
            <a:r>
              <a:rPr lang="en-GB" dirty="0"/>
              <a:t>: Performs </a:t>
            </a:r>
            <a:r>
              <a:rPr lang="en-GB" b="1" dirty="0"/>
              <a:t>Heatmap-based Correlation</a:t>
            </a:r>
            <a:r>
              <a:rPr lang="en-GB" dirty="0"/>
              <a:t> analysis and Recursive Feature Elimination (RFE) to identify the 10 most predictive features for UPI-based transaction fraud.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416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B0CDB-6175-4397-3E10-B134AA4E6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04ABC-1C92-45CB-A80A-26D0DCEF5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6. MODULE IDENTIFICATION (CONTD)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3F412-3604-2094-187E-E540312ED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b="1" dirty="0"/>
              <a:t>Multi-Algorithm Training Engine</a:t>
            </a:r>
            <a:r>
              <a:rPr lang="en-GB" dirty="0"/>
              <a:t>: Orchestrates the training, cross-validation, and hyperparameter tuning of </a:t>
            </a:r>
            <a:r>
              <a:rPr lang="en-GB" b="1" dirty="0" err="1"/>
              <a:t>XGBoost</a:t>
            </a:r>
            <a:r>
              <a:rPr lang="en-GB" b="1" dirty="0"/>
              <a:t>, Random Forest, Logistic Regression, and Autoencoders (Deep Learning)</a:t>
            </a:r>
            <a:r>
              <a:rPr lang="en-GB" dirty="0"/>
              <a:t>.</a:t>
            </a:r>
          </a:p>
          <a:p>
            <a:r>
              <a:rPr lang="en-GB" b="1" dirty="0"/>
              <a:t>Dual-Layer Explainability (XAI) Module</a:t>
            </a:r>
            <a:r>
              <a:rPr lang="en-GB" dirty="0"/>
              <a:t>: Generates local instance explanations via </a:t>
            </a:r>
            <a:r>
              <a:rPr lang="en-GB" b="1" dirty="0"/>
              <a:t>LIME</a:t>
            </a:r>
            <a:r>
              <a:rPr lang="en-GB" dirty="0"/>
              <a:t> and global feature importance rankings via </a:t>
            </a:r>
            <a:r>
              <a:rPr lang="en-GB" b="1" dirty="0"/>
              <a:t>SHAP</a:t>
            </a:r>
            <a:r>
              <a:rPr lang="en-GB" dirty="0"/>
              <a:t>, ensuring every AI decision is legally auditable and fully transparent.</a:t>
            </a:r>
          </a:p>
          <a:p>
            <a:r>
              <a:rPr lang="en-GB" b="1" dirty="0"/>
              <a:t>Digital Twin Attack Simulator</a:t>
            </a:r>
            <a:r>
              <a:rPr lang="en-GB" dirty="0"/>
              <a:t>: A forecasting sandbox that creates high-fidelity synthetic "What-if" attack vectors—such as </a:t>
            </a:r>
            <a:r>
              <a:rPr lang="en-GB" b="1" dirty="0"/>
              <a:t>SIM Swapping and Credential Stuffing</a:t>
            </a:r>
            <a:r>
              <a:rPr lang="en-GB" dirty="0"/>
              <a:t>—to benchmark and improve model robustness.</a:t>
            </a:r>
          </a:p>
          <a:p>
            <a:r>
              <a:rPr lang="en-GB" b="1" dirty="0"/>
              <a:t>Interactive Frontend Dashboard</a:t>
            </a:r>
            <a:r>
              <a:rPr lang="en-GB" dirty="0"/>
              <a:t>: A </a:t>
            </a:r>
            <a:r>
              <a:rPr lang="en-GB" b="1" dirty="0" err="1"/>
              <a:t>Streamlit</a:t>
            </a:r>
            <a:r>
              <a:rPr lang="en-GB" dirty="0"/>
              <a:t>-based command </a:t>
            </a:r>
            <a:r>
              <a:rPr lang="en-GB" dirty="0" err="1"/>
              <a:t>center</a:t>
            </a:r>
            <a:r>
              <a:rPr lang="en-GB" dirty="0"/>
              <a:t> that provides real-time performance tracking, interactive risk-reporting visualizations, and manual "Sandbox Mode" for case investigations.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BD794-F6F3-743D-BC9A-A026F450A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16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7. </a:t>
            </a:r>
            <a:r>
              <a:rPr lang="en-US" sz="36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Module Interaction Diagram </a:t>
            </a:r>
            <a:endParaRPr lang="en-US" sz="37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12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4235428-FDC1-B8D4-2431-F27B85C5EC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9460" r="-3289"/>
          <a:stretch>
            <a:fillRect/>
          </a:stretch>
        </p:blipFill>
        <p:spPr>
          <a:xfrm>
            <a:off x="1676400" y="1869440"/>
            <a:ext cx="10210800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825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5F7D7-056F-03DC-90BF-19923D856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58A6A-E547-AFD1-105C-CE246CFBA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7. SYSTEM ARCHITECTURE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6731643-26CE-9895-E09E-8E5604FA83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9300" y="1600200"/>
            <a:ext cx="8763000" cy="556937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923A8-9E12-3F0A-11BC-7FE73666B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700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A14CF-3636-28F0-1B22-6FFFB8ED9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5A57E-46D0-5826-A92A-3883579BC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8. DEVELOPMENT &amp;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02D35-B3F2-B049-6361-259F646C9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/>
              <a:t>Implementation of Modules</a:t>
            </a:r>
            <a:r>
              <a:rPr lang="en-GB" dirty="0"/>
              <a:t>:</a:t>
            </a:r>
          </a:p>
          <a:p>
            <a:pPr lvl="1"/>
            <a:r>
              <a:rPr lang="en-GB" b="1" dirty="0"/>
              <a:t>Tech Stack</a:t>
            </a:r>
            <a:r>
              <a:rPr lang="en-GB" dirty="0"/>
              <a:t>: Developed a professional backend using </a:t>
            </a:r>
            <a:r>
              <a:rPr lang="en-GB" b="1" dirty="0"/>
              <a:t>Python 3.9</a:t>
            </a:r>
            <a:r>
              <a:rPr lang="en-GB" dirty="0"/>
              <a:t> with </a:t>
            </a:r>
            <a:r>
              <a:rPr lang="en-GB" b="1" dirty="0" err="1"/>
              <a:t>XGBoost</a:t>
            </a:r>
            <a:r>
              <a:rPr lang="en-GB" b="1" dirty="0"/>
              <a:t>, TensorFlow</a:t>
            </a:r>
            <a:r>
              <a:rPr lang="en-GB" dirty="0"/>
              <a:t>, and </a:t>
            </a:r>
            <a:r>
              <a:rPr lang="en-GB" b="1" dirty="0"/>
              <a:t>Scikit-Learn</a:t>
            </a:r>
            <a:r>
              <a:rPr lang="en-GB" dirty="0"/>
              <a:t>.</a:t>
            </a:r>
          </a:p>
          <a:p>
            <a:pPr lvl="1"/>
            <a:r>
              <a:rPr lang="en-GB" b="1" dirty="0"/>
              <a:t>Core Architecture</a:t>
            </a:r>
            <a:r>
              <a:rPr lang="en-GB" dirty="0"/>
              <a:t>: Built 6 dedicated modules including data_loader.py (Resampling), model_trainer.py (ML Core), explainability.py (XAI), and digital_twin.py (Simulations).</a:t>
            </a:r>
          </a:p>
          <a:p>
            <a:pPr lvl="1"/>
            <a:r>
              <a:rPr lang="en-GB" b="1" dirty="0"/>
              <a:t>Code Quality</a:t>
            </a:r>
            <a:r>
              <a:rPr lang="en-GB" dirty="0"/>
              <a:t>: Achieved a production-ready system with </a:t>
            </a:r>
            <a:r>
              <a:rPr lang="en-GB" b="1" dirty="0"/>
              <a:t>~5,700 lines of code</a:t>
            </a:r>
            <a:r>
              <a:rPr lang="en-GB" dirty="0"/>
              <a:t>, following strict </a:t>
            </a:r>
            <a:r>
              <a:rPr lang="en-GB" b="1" dirty="0"/>
              <a:t>OOP and SOLID principles</a:t>
            </a:r>
            <a:r>
              <a:rPr lang="en-GB" dirty="0"/>
              <a:t> for modularity.</a:t>
            </a:r>
          </a:p>
          <a:p>
            <a:pPr marL="0" indent="0">
              <a:buNone/>
            </a:pPr>
            <a:br>
              <a:rPr lang="en-GB" dirty="0"/>
            </a:b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722340-D64E-6B00-E8F2-E1046BC26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412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14F7B-448F-5933-E4F5-9F6656ACE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B1540-D08A-936D-657B-2CA7AA0EF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553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8. DEVELOPMENT &amp; INTEGRATION (CONTD)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1C32F-FDCF-2099-8C99-4CD330488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b="1" dirty="0"/>
              <a:t>Integration Strategy</a:t>
            </a:r>
            <a:r>
              <a:rPr lang="en-GB" dirty="0"/>
              <a:t>:</a:t>
            </a:r>
          </a:p>
          <a:p>
            <a:pPr lvl="1"/>
            <a:r>
              <a:rPr lang="en-GB" b="1" dirty="0" err="1"/>
              <a:t>Streamlit</a:t>
            </a:r>
            <a:r>
              <a:rPr lang="en-GB" b="1" dirty="0"/>
              <a:t> Orchestration</a:t>
            </a:r>
            <a:r>
              <a:rPr lang="en-GB" dirty="0"/>
              <a:t>: Centralized the entire system through app.py, which coordinates the handshake between the data pipeline and the interactive dashboard.</a:t>
            </a:r>
          </a:p>
          <a:p>
            <a:pPr lvl="1"/>
            <a:r>
              <a:rPr lang="en-GB" b="1" dirty="0"/>
              <a:t>Model Persistence</a:t>
            </a:r>
            <a:r>
              <a:rPr lang="en-GB" dirty="0"/>
              <a:t>: Utilized </a:t>
            </a:r>
            <a:r>
              <a:rPr lang="en-GB" b="1" dirty="0" err="1"/>
              <a:t>Joblib</a:t>
            </a:r>
            <a:r>
              <a:rPr lang="en-GB" b="1" dirty="0"/>
              <a:t> serialization</a:t>
            </a:r>
            <a:r>
              <a:rPr lang="en-GB" dirty="0"/>
              <a:t> to allow the dashboard to instantly load and switch between 4 trained algorithms (</a:t>
            </a:r>
            <a:r>
              <a:rPr lang="en-GB" dirty="0" err="1"/>
              <a:t>XGBoost</a:t>
            </a:r>
            <a:r>
              <a:rPr lang="en-GB" dirty="0"/>
              <a:t>, RF, LR, and Autoencoder).</a:t>
            </a:r>
          </a:p>
          <a:p>
            <a:pPr lvl="1"/>
            <a:r>
              <a:rPr lang="en-GB" b="1" dirty="0"/>
              <a:t>Digital Twin Integration</a:t>
            </a:r>
            <a:r>
              <a:rPr lang="en-GB" dirty="0"/>
              <a:t>: The simulation module uses the live </a:t>
            </a:r>
            <a:r>
              <a:rPr lang="en-GB" b="1" dirty="0"/>
              <a:t>Model Engine</a:t>
            </a:r>
            <a:r>
              <a:rPr lang="en-GB" dirty="0"/>
              <a:t> weights to forecast risk scores for simulated attack scenarios in real-time.</a:t>
            </a:r>
          </a:p>
          <a:p>
            <a:pPr lvl="1"/>
            <a:r>
              <a:rPr lang="en-GB" b="1" dirty="0"/>
              <a:t>Deployment Readiness</a:t>
            </a:r>
            <a:r>
              <a:rPr lang="en-GB" dirty="0"/>
              <a:t>: Integrated </a:t>
            </a:r>
            <a:r>
              <a:rPr lang="en-GB" b="1" dirty="0"/>
              <a:t>Docker &amp; Docker-Compose</a:t>
            </a:r>
            <a:r>
              <a:rPr lang="en-GB" dirty="0"/>
              <a:t> files to ensure the system is ready for cloud deployment (AWS/Heroku) without environment conflicts.</a:t>
            </a:r>
          </a:p>
          <a:p>
            <a:pPr marL="0" indent="0">
              <a:buNone/>
            </a:pPr>
            <a:br>
              <a:rPr lang="en-GB" dirty="0"/>
            </a:b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69C87-894B-EA46-CE5B-2DDA46DB8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243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27537-C2B1-BBAB-CBDC-8877335D0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32A96-2145-44C9-9E53-9C8D7B0D6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8. DEVELOPMENT &amp; INTEGRATION (CONTD)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EA8F9-2B7E-3D21-2905-E276092D8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b="1" dirty="0"/>
              <a:t>Challenges Faced &amp; Solutions</a:t>
            </a:r>
            <a:r>
              <a:rPr lang="en-GB" dirty="0"/>
              <a:t>:</a:t>
            </a:r>
          </a:p>
          <a:p>
            <a:pPr lvl="1"/>
            <a:r>
              <a:rPr lang="en-GB" b="1" dirty="0"/>
              <a:t>Challenge</a:t>
            </a:r>
            <a:r>
              <a:rPr lang="en-GB" dirty="0"/>
              <a:t>: Extreme class imbalance (Fraud &lt; 1%) found in datasets like </a:t>
            </a:r>
            <a:r>
              <a:rPr lang="en-GB" b="1" dirty="0" err="1"/>
              <a:t>PaySim</a:t>
            </a:r>
            <a:r>
              <a:rPr lang="en-GB" dirty="0"/>
              <a:t>.</a:t>
            </a:r>
          </a:p>
          <a:p>
            <a:pPr lvl="2"/>
            <a:r>
              <a:rPr lang="en-GB" b="1" dirty="0"/>
              <a:t>Solution</a:t>
            </a:r>
            <a:r>
              <a:rPr lang="en-GB" dirty="0"/>
              <a:t>: Implemented a </a:t>
            </a:r>
            <a:r>
              <a:rPr lang="en-GB" b="1" dirty="0"/>
              <a:t>SMOTE-Tomek hybrid resampling pipeline</a:t>
            </a:r>
            <a:r>
              <a:rPr lang="en-GB" dirty="0"/>
              <a:t> in data_loader.py to ensure the model catches rare fraudulent patterns.</a:t>
            </a:r>
          </a:p>
          <a:p>
            <a:pPr lvl="1"/>
            <a:r>
              <a:rPr lang="en-GB" b="1" dirty="0"/>
              <a:t>Challenge</a:t>
            </a:r>
            <a:r>
              <a:rPr lang="en-GB" dirty="0"/>
              <a:t>: Ensuring sub-second latency for live UPI monitoring.</a:t>
            </a:r>
          </a:p>
          <a:p>
            <a:pPr lvl="2"/>
            <a:r>
              <a:rPr lang="en-GB" b="1" dirty="0"/>
              <a:t>Solution</a:t>
            </a:r>
            <a:r>
              <a:rPr lang="en-GB" dirty="0"/>
              <a:t>: Optimized the feature transformation engine to achieve an average </a:t>
            </a:r>
            <a:r>
              <a:rPr lang="en-GB" b="1" dirty="0"/>
              <a:t>prediction latency of &lt;100ms</a:t>
            </a:r>
            <a:r>
              <a:rPr lang="en-GB" dirty="0"/>
              <a:t> per transaction.</a:t>
            </a:r>
          </a:p>
          <a:p>
            <a:pPr lvl="1"/>
            <a:r>
              <a:rPr lang="en-GB" b="1" dirty="0"/>
              <a:t>Challenge</a:t>
            </a:r>
            <a:r>
              <a:rPr lang="en-GB" dirty="0"/>
              <a:t>: Making "Black-Box" ML results legally auditable for banks.</a:t>
            </a:r>
          </a:p>
          <a:p>
            <a:pPr lvl="2"/>
            <a:r>
              <a:rPr lang="en-GB" b="1" dirty="0"/>
              <a:t>Solution</a:t>
            </a:r>
            <a:r>
              <a:rPr lang="en-GB" dirty="0"/>
              <a:t>: Integrated </a:t>
            </a:r>
            <a:r>
              <a:rPr lang="en-GB" b="1" dirty="0"/>
              <a:t>Dual-Layer XAI (SHAP + LIME)</a:t>
            </a:r>
            <a:r>
              <a:rPr lang="en-GB" dirty="0"/>
              <a:t> to generate human-readable "Risk Factor Reports" for every flagged transaction.</a:t>
            </a:r>
          </a:p>
          <a:p>
            <a:pPr lvl="1"/>
            <a:r>
              <a:rPr lang="en-GB" b="1" dirty="0"/>
              <a:t>Challenge</a:t>
            </a:r>
            <a:r>
              <a:rPr lang="en-GB" dirty="0"/>
              <a:t>: Mismatch between different financial schemas (</a:t>
            </a:r>
            <a:r>
              <a:rPr lang="en-GB" b="1" dirty="0"/>
              <a:t>CICIDS vs. </a:t>
            </a:r>
            <a:r>
              <a:rPr lang="en-GB" b="1" dirty="0" err="1"/>
              <a:t>BankSim</a:t>
            </a:r>
            <a:r>
              <a:rPr lang="en-GB" dirty="0"/>
              <a:t>).</a:t>
            </a:r>
          </a:p>
          <a:p>
            <a:pPr lvl="2"/>
            <a:r>
              <a:rPr lang="en-GB" b="1" dirty="0"/>
              <a:t>Solution</a:t>
            </a:r>
            <a:r>
              <a:rPr lang="en-GB" dirty="0"/>
              <a:t>: Developed a </a:t>
            </a:r>
            <a:r>
              <a:rPr lang="en-GB" b="1" dirty="0"/>
              <a:t>Unified Feature Mapper</a:t>
            </a:r>
            <a:r>
              <a:rPr lang="en-GB" dirty="0"/>
              <a:t> that standardizes disparate data columns into a consistent internal format.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F0102-43DA-63D8-B977-3DB6C7958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765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FF5EA-D62B-1983-B948-F514CA25F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138A4-31C7-3BA3-41EC-856FFC3F2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9. PROTOTYPE / RESEARCH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DCD9C-F660-95CA-73DE-982F8EE86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GB" b="1" dirty="0"/>
              <a:t>Working Prototype Description</a:t>
            </a:r>
            <a:r>
              <a:rPr lang="en-GB" dirty="0"/>
              <a:t>:</a:t>
            </a:r>
          </a:p>
          <a:p>
            <a:pPr lvl="1"/>
            <a:r>
              <a:rPr lang="en-GB" b="1" dirty="0"/>
              <a:t>Interactive </a:t>
            </a:r>
            <a:r>
              <a:rPr lang="en-GB" b="1" dirty="0" err="1"/>
              <a:t>Streamlit</a:t>
            </a:r>
            <a:r>
              <a:rPr lang="en-GB" b="1" dirty="0"/>
              <a:t> Dashboard</a:t>
            </a:r>
            <a:r>
              <a:rPr lang="en-GB" dirty="0"/>
              <a:t>: A professional web-based interface that integrates all project modules into a unified command </a:t>
            </a:r>
            <a:r>
              <a:rPr lang="en-GB" dirty="0" err="1"/>
              <a:t>center</a:t>
            </a:r>
            <a:r>
              <a:rPr lang="en-GB" dirty="0"/>
              <a:t>.</a:t>
            </a:r>
          </a:p>
          <a:p>
            <a:pPr lvl="1"/>
            <a:r>
              <a:rPr lang="en-GB" b="1" dirty="0"/>
              <a:t>Integrated Model Arena</a:t>
            </a:r>
            <a:r>
              <a:rPr lang="en-GB" dirty="0"/>
              <a:t>: Allows investigators to train and compare </a:t>
            </a:r>
            <a:r>
              <a:rPr lang="en-GB" b="1" dirty="0" err="1"/>
              <a:t>XGBoost</a:t>
            </a:r>
            <a:r>
              <a:rPr lang="en-GB" b="1" dirty="0"/>
              <a:t>, Random Forest, and Logistic Regression</a:t>
            </a:r>
            <a:r>
              <a:rPr lang="en-GB" dirty="0"/>
              <a:t> models side-by-side using live datasets.</a:t>
            </a:r>
          </a:p>
          <a:p>
            <a:pPr lvl="1"/>
            <a:r>
              <a:rPr lang="en-GB" b="1" dirty="0"/>
              <a:t>Live Prediction Module</a:t>
            </a:r>
            <a:r>
              <a:rPr lang="en-GB" dirty="0"/>
              <a:t>: Features a real-time prediction form where users can input transaction details and receive an instant </a:t>
            </a:r>
            <a:r>
              <a:rPr lang="en-GB" b="1" dirty="0"/>
              <a:t>Risk Score (0–100%)</a:t>
            </a:r>
            <a:r>
              <a:rPr lang="en-GB" dirty="0"/>
              <a:t> and classification.</a:t>
            </a:r>
          </a:p>
          <a:p>
            <a:pPr lvl="1"/>
            <a:r>
              <a:rPr lang="en-GB" b="1" dirty="0"/>
              <a:t>Explainability Portal</a:t>
            </a:r>
            <a:r>
              <a:rPr lang="en-GB" dirty="0"/>
              <a:t>: Dedicated section providing interactive </a:t>
            </a:r>
            <a:r>
              <a:rPr lang="en-GB" b="1" dirty="0"/>
              <a:t>SHAP and LIME</a:t>
            </a:r>
            <a:r>
              <a:rPr lang="en-GB" dirty="0"/>
              <a:t> visualizations that explain the exact features contributing to a fraud verdict.</a:t>
            </a:r>
          </a:p>
          <a:p>
            <a:r>
              <a:rPr lang="en-GB" b="1" dirty="0"/>
              <a:t>Research Framework Setup</a:t>
            </a:r>
            <a:r>
              <a:rPr lang="en-GB" dirty="0"/>
              <a:t>:</a:t>
            </a:r>
          </a:p>
          <a:p>
            <a:pPr lvl="1"/>
            <a:r>
              <a:rPr lang="en-GB" b="1" dirty="0"/>
              <a:t>Multi-Domain Data Integration</a:t>
            </a:r>
            <a:r>
              <a:rPr lang="en-GB" dirty="0"/>
              <a:t>: A framework that standardizes disparate transaction schemas from </a:t>
            </a:r>
            <a:r>
              <a:rPr lang="en-GB" b="1" dirty="0" err="1"/>
              <a:t>PaySim</a:t>
            </a:r>
            <a:r>
              <a:rPr lang="en-GB" b="1" dirty="0"/>
              <a:t>, CICIDS2017, and </a:t>
            </a:r>
            <a:r>
              <a:rPr lang="en-GB" b="1" dirty="0" err="1"/>
              <a:t>BankSim</a:t>
            </a:r>
            <a:r>
              <a:rPr lang="en-GB" dirty="0"/>
              <a:t> into a single internal representation.</a:t>
            </a:r>
          </a:p>
          <a:p>
            <a:pPr lvl="1"/>
            <a:r>
              <a:rPr lang="en-GB" b="1" dirty="0"/>
              <a:t>Hybrid Learning Pipeline</a:t>
            </a:r>
            <a:r>
              <a:rPr lang="en-GB" dirty="0"/>
              <a:t>: Combines </a:t>
            </a:r>
            <a:r>
              <a:rPr lang="en-GB" b="1" dirty="0"/>
              <a:t>Supervised Learning</a:t>
            </a:r>
            <a:r>
              <a:rPr lang="en-GB" dirty="0"/>
              <a:t> (for known patterns) with </a:t>
            </a:r>
            <a:r>
              <a:rPr lang="en-GB" b="1" dirty="0"/>
              <a:t>Unsupervised Anomaly Detection (Autoencoders)</a:t>
            </a:r>
            <a:r>
              <a:rPr lang="en-GB" dirty="0"/>
              <a:t> to identify novel "Zero-Day" fraud.</a:t>
            </a:r>
          </a:p>
          <a:p>
            <a:pPr lvl="1"/>
            <a:r>
              <a:rPr lang="en-GB" b="1" dirty="0"/>
              <a:t>Digital Twin Forecasting Sandbox</a:t>
            </a:r>
            <a:r>
              <a:rPr lang="en-GB" dirty="0"/>
              <a:t>: A simulation environment used to model evolving attack scenarios, providing a proactive "What-if" analysis for system </a:t>
            </a:r>
            <a:r>
              <a:rPr lang="en-GB" dirty="0" err="1"/>
              <a:t>defense</a:t>
            </a:r>
            <a:r>
              <a:rPr lang="en-GB" dirty="0"/>
              <a:t>.</a:t>
            </a:r>
          </a:p>
          <a:p>
            <a:pPr lvl="1"/>
            <a:r>
              <a:rPr lang="en-GB" b="1" dirty="0"/>
              <a:t>Continuous Evaluation Loop</a:t>
            </a:r>
            <a:r>
              <a:rPr lang="en-GB" dirty="0"/>
              <a:t>: A robust testing framework that validates every model using </a:t>
            </a:r>
            <a:r>
              <a:rPr lang="en-GB" b="1" dirty="0"/>
              <a:t>Precision, Recall, F1-Score, and ROC-AUC</a:t>
            </a:r>
            <a:r>
              <a:rPr lang="en-GB" dirty="0"/>
              <a:t> across highly imbalanced data.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83B01-BF0B-D797-AC89-252288DAD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0041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8BB3-2A5B-34AC-B39B-BAE5C65E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48EB-8A1A-C9A3-3C48-48304720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10. OUTCOME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8D8EC9A-F2B5-CED3-2AFC-1D87F3C396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4828" y="1706563"/>
            <a:ext cx="6311944" cy="482758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3C818-3FBA-7FB8-3369-BCE4AC4B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433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157FD-CD1F-94CF-5D82-39FC11EAF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A9F29-59F4-03B2-2361-DADE744E3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485" y="-5154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10. OUTCOME (CONTD..)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C35774-4718-33DE-80D1-30A9134F9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19</a:t>
            </a:fld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A5B028B-C04D-8E9D-BF7B-8735F5070D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6866" y="1706563"/>
            <a:ext cx="6427868" cy="482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3365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D117C-DF96-5E4D-D908-3A70D33B8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C4090-6DA6-3269-2B69-086FA37BE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10. OUTCOME (CONTD..)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9420DD-74D7-9634-574E-76650963A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20</a:t>
            </a:fld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F9158F4-69B7-1D56-A4D8-5A7276B788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9315" y="1706563"/>
            <a:ext cx="6322971" cy="482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5260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92C54-12AB-3667-34BF-6B8FDFF92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5DE8B-357B-DEDF-109E-E2AD398E3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10. OUTCOME (CONTD..)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194FC-1F0F-3C4B-7FD0-AB6ED5BC1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21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455019A-2379-F58C-E777-4170A0F2CC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8306" y="1706563"/>
            <a:ext cx="6564988" cy="482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3445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A6C8D-B43E-DA7C-E00A-0FC4EA185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4C6AA-E1C2-EA6C-246E-CC1479CDE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11. RESULTS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636CBBD-E3BA-5BF6-B351-C7ABA9817C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9763" y="2090839"/>
            <a:ext cx="11522075" cy="405903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BB0C0-AF3E-C46D-0A00-DD8E18E78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3997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1B5D5-7EA4-C278-ED5F-23FE99F51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80456-7EF0-E555-BAB1-4ACB3FAD0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11. RESULTS (CONTD..)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F0C8B-933B-154F-EEB5-96DA5C282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23</a:t>
            </a:fld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A82F6E1-5436-910E-84CF-E8991B412F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9347" y="1706563"/>
            <a:ext cx="5982906" cy="482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4167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7CD68-C933-DE83-C858-1C6A9D1C0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B920D-D28F-30C7-2E96-7B1900AD6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11. RESULTS (CONTD..)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64F9AD-5021-255E-2D95-025D39BBC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24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1EC9A55-54CE-C5D8-67C3-78E21DD657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9565" y="1706563"/>
            <a:ext cx="5882470" cy="482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2374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12. TIMELINE / GANTT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232115-B82D-8D1A-DF88-7F370475E570}"/>
              </a:ext>
            </a:extLst>
          </p:cNvPr>
          <p:cNvSpPr txBox="1"/>
          <p:nvPr/>
        </p:nvSpPr>
        <p:spPr>
          <a:xfrm>
            <a:off x="762000" y="1981200"/>
            <a:ext cx="11049000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❖ Planned vs Completed Tasks:</a:t>
            </a:r>
            <a:endParaRPr lang="en-GB" dirty="0"/>
          </a:p>
          <a:p>
            <a:r>
              <a:rPr lang="en-GB" b="1" dirty="0"/>
              <a:t>October</a:t>
            </a:r>
            <a:r>
              <a:rPr lang="en-GB" dirty="0"/>
              <a:t>: Problem Identification &amp; Literature Review </a:t>
            </a:r>
          </a:p>
          <a:p>
            <a:r>
              <a:rPr lang="en-GB" b="1" dirty="0"/>
              <a:t>November</a:t>
            </a:r>
            <a:r>
              <a:rPr lang="en-GB" dirty="0"/>
              <a:t>: Dataset Collection (</a:t>
            </a:r>
            <a:r>
              <a:rPr lang="en-GB" dirty="0" err="1"/>
              <a:t>PaySim</a:t>
            </a:r>
            <a:r>
              <a:rPr lang="en-GB" dirty="0"/>
              <a:t>, </a:t>
            </a:r>
            <a:r>
              <a:rPr lang="en-GB" dirty="0" err="1"/>
              <a:t>BankSim</a:t>
            </a:r>
            <a:r>
              <a:rPr lang="en-GB" dirty="0"/>
              <a:t>, UPI) </a:t>
            </a:r>
          </a:p>
          <a:p>
            <a:r>
              <a:rPr lang="en-GB" b="1" dirty="0"/>
              <a:t>December</a:t>
            </a:r>
            <a:r>
              <a:rPr lang="en-GB" dirty="0"/>
              <a:t>: Data Preprocessing &amp; Exploratory Data Analysis (EDA) </a:t>
            </a:r>
          </a:p>
          <a:p>
            <a:r>
              <a:rPr lang="en-GB" b="1" dirty="0"/>
              <a:t>January (2026)</a:t>
            </a:r>
            <a:r>
              <a:rPr lang="en-GB" dirty="0"/>
              <a:t>: Model Development (</a:t>
            </a:r>
            <a:r>
              <a:rPr lang="en-GB" dirty="0" err="1"/>
              <a:t>XGBoost</a:t>
            </a:r>
            <a:r>
              <a:rPr lang="en-GB" dirty="0"/>
              <a:t>, RF, Logistic ,) </a:t>
            </a:r>
          </a:p>
          <a:p>
            <a:r>
              <a:rPr lang="en-GB" b="1" dirty="0"/>
              <a:t>February</a:t>
            </a:r>
            <a:r>
              <a:rPr lang="en-GB" dirty="0"/>
              <a:t>: XAI Integration &amp; Digital Twin Development </a:t>
            </a:r>
          </a:p>
          <a:p>
            <a:r>
              <a:rPr lang="en-GB" b="1" dirty="0"/>
              <a:t>March</a:t>
            </a:r>
            <a:r>
              <a:rPr lang="en-GB" dirty="0"/>
              <a:t>: </a:t>
            </a:r>
            <a:r>
              <a:rPr lang="en-GB" dirty="0" err="1"/>
              <a:t>Streamlit</a:t>
            </a:r>
            <a:r>
              <a:rPr lang="en-GB" dirty="0"/>
              <a:t> Dashboard &amp; Real-Time Integration</a:t>
            </a:r>
          </a:p>
          <a:p>
            <a:endParaRPr lang="en-GB" dirty="0"/>
          </a:p>
          <a:p>
            <a:r>
              <a:rPr lang="en-GB" b="1" dirty="0"/>
              <a:t>❖ Next </a:t>
            </a:r>
            <a:r>
              <a:rPr lang="en-GB" b="1"/>
              <a:t>Milestones:</a:t>
            </a:r>
            <a:endParaRPr lang="en-GB" dirty="0"/>
          </a:p>
          <a:p>
            <a:r>
              <a:rPr lang="en-GB" dirty="0"/>
              <a:t> Model Optimization &amp; Fine-tuning</a:t>
            </a:r>
          </a:p>
          <a:p>
            <a:r>
              <a:rPr lang="en-GB" dirty="0"/>
              <a:t> Multi-Domain Performance Validation</a:t>
            </a:r>
          </a:p>
          <a:p>
            <a:r>
              <a:rPr lang="en-GB" dirty="0"/>
              <a:t> Final Technical Report Submission</a:t>
            </a:r>
          </a:p>
          <a:p>
            <a:r>
              <a:rPr lang="en-GB" dirty="0"/>
              <a:t> Final Viva &amp; Review-III Presentation</a:t>
            </a:r>
          </a:p>
          <a:p>
            <a:br>
              <a:rPr lang="en-GB" dirty="0"/>
            </a:br>
            <a:r>
              <a:rPr lang="en-GB" dirty="0"/>
              <a:t> </a:t>
            </a:r>
            <a:endParaRPr lang="en-IN" dirty="0"/>
          </a:p>
        </p:txBody>
      </p:sp>
      <p:sp>
        <p:nvSpPr>
          <p:cNvPr id="5" name="AutoShape 2" descr="Generated image: Fraud detection project timeline diagram">
            <a:extLst>
              <a:ext uri="{FF2B5EF4-FFF2-40B4-BE49-F238E27FC236}">
                <a16:creationId xmlns:a16="http://schemas.microsoft.com/office/drawing/2014/main" id="{5CBCFFCF-C3EF-2752-F4DB-9F05E9453C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05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" name="AutoShape 4" descr="Generated image: Fraud detection project timeline diagram">
            <a:extLst>
              <a:ext uri="{FF2B5EF4-FFF2-40B4-BE49-F238E27FC236}">
                <a16:creationId xmlns:a16="http://schemas.microsoft.com/office/drawing/2014/main" id="{78D73DB0-0492-762D-BDF3-CF28835A35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0800" y="3657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613697-AF3E-CFAE-D2AC-E317CEA329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3787515"/>
            <a:ext cx="4634331" cy="3475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2962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13.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1800" dirty="0"/>
              <a:t>[1] Sharma, R., Gupta, P., &amp; Verma, S. (2023). Transparent AI for adaptive fraud detection using explainable machine learning models. </a:t>
            </a:r>
            <a:r>
              <a:rPr lang="en-GB" sz="1800" i="1" dirty="0"/>
              <a:t>IEEE Access</a:t>
            </a:r>
            <a:r>
              <a:rPr lang="en-GB" sz="1800" dirty="0"/>
              <a:t>, 11, 45678–45690.</a:t>
            </a:r>
          </a:p>
          <a:p>
            <a:r>
              <a:rPr lang="en-GB" sz="1800" dirty="0"/>
              <a:t>[2] Menon, A., Krishnan, R., &amp; Iyer, V. (2023). AI-enabled digital twin models to enhance security in smart city environments. </a:t>
            </a:r>
            <a:r>
              <a:rPr lang="en-GB" sz="1800" i="1" dirty="0"/>
              <a:t>IEEE Internet of Things Journal</a:t>
            </a:r>
            <a:r>
              <a:rPr lang="en-GB" sz="1800" dirty="0"/>
              <a:t>, 10(8), 6789–6802.</a:t>
            </a:r>
          </a:p>
          <a:p>
            <a:r>
              <a:rPr lang="en-GB" sz="1800" dirty="0"/>
              <a:t>[3] Singh, D., &amp; Rao, K. (2024). A review of digital twins and their application in cybersecurity. </a:t>
            </a:r>
            <a:r>
              <a:rPr lang="en-GB" sz="1800" i="1" dirty="0"/>
              <a:t>Artificial Intelligence Review</a:t>
            </a:r>
            <a:r>
              <a:rPr lang="en-GB" sz="1800" dirty="0"/>
              <a:t>, 57(2), 1234–1256.</a:t>
            </a:r>
          </a:p>
          <a:p>
            <a:r>
              <a:rPr lang="en-GB" sz="1800" dirty="0"/>
              <a:t>[4] Mehta, S., Jain, A., &amp; Kulkarni, R. (2024). A comprehensive state-of-the-art review for digital twin: Cybersecurity perspectives and open challenges. </a:t>
            </a:r>
            <a:r>
              <a:rPr lang="en-GB" sz="1800" i="1" dirty="0"/>
              <a:t>Lecture Notes in Computer Science</a:t>
            </a:r>
            <a:r>
              <a:rPr lang="en-GB" sz="1800" dirty="0"/>
              <a:t>, 14012, 89–104.</a:t>
            </a:r>
          </a:p>
          <a:p>
            <a:r>
              <a:rPr lang="en-GB" sz="1800" dirty="0"/>
              <a:t>[5] Gupta, R., Sharma, N., &amp; Patel, V. (2022). Analysis and detection of fraudulence using machine learning practices with digital twin approach. </a:t>
            </a:r>
            <a:r>
              <a:rPr lang="en-GB" sz="1800" i="1" dirty="0"/>
              <a:t>Advances in Intelligent Systems and Computing</a:t>
            </a:r>
            <a:r>
              <a:rPr lang="en-GB" sz="1800" dirty="0"/>
              <a:t>, 1375, 210–220.</a:t>
            </a:r>
          </a:p>
          <a:p>
            <a:r>
              <a:rPr lang="en-GB" sz="1800" dirty="0"/>
              <a:t>[6] Reddy, K., Kumar, S., &amp; Nair, P. (2023). AI-enabled cybersecurity using synthetic data for anomaly detection. </a:t>
            </a:r>
            <a:r>
              <a:rPr lang="en-GB" sz="1800" i="1" dirty="0"/>
              <a:t>IEEE Transactions on Network Science and Engineering</a:t>
            </a:r>
            <a:r>
              <a:rPr lang="en-GB" sz="1800" dirty="0"/>
              <a:t>, 10(5), 3345–3356.</a:t>
            </a:r>
          </a:p>
          <a:p>
            <a:r>
              <a:rPr lang="en-GB" sz="1800" dirty="0"/>
              <a:t>[7] Verma, P., Singh, R., &amp; Tiwari, M. (2023). Digital twins driven by artificial intelligence to mitigate and simulate cyber threats. </a:t>
            </a:r>
            <a:r>
              <a:rPr lang="en-GB" sz="1800" i="1" dirty="0"/>
              <a:t>IEEE Access</a:t>
            </a:r>
            <a:r>
              <a:rPr lang="en-GB" sz="1800" dirty="0"/>
              <a:t>, 11, 98765–98780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3593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REFERENCES (CONTD..,)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000" dirty="0"/>
              <a:t>[8] Das, S., Roy, A., &amp; Ghosh, D. (2023). Integrating digital twins with AI for real-time intrusion detection systems. </a:t>
            </a:r>
            <a:r>
              <a:rPr lang="en-GB" sz="2000" i="1" dirty="0"/>
              <a:t>IEEE Transactions on Industrial Informatics</a:t>
            </a:r>
            <a:r>
              <a:rPr lang="en-GB" sz="2000" dirty="0"/>
              <a:t>, 19(6), 4567–4578.</a:t>
            </a:r>
          </a:p>
          <a:p>
            <a:r>
              <a:rPr lang="en-GB" sz="2000" dirty="0"/>
              <a:t>[9] Ramesh, K., Iyer, S., &amp; Menon, V. (2023). A comprehensive review on cybersecurity of digital twin systems. </a:t>
            </a:r>
            <a:r>
              <a:rPr lang="en-GB" sz="2000" i="1" dirty="0"/>
              <a:t>IEEE Access</a:t>
            </a:r>
            <a:r>
              <a:rPr lang="en-GB" sz="2000" dirty="0"/>
              <a:t>, 11, 112233–112250.</a:t>
            </a:r>
          </a:p>
          <a:p>
            <a:r>
              <a:rPr lang="en-GB" sz="2000" dirty="0"/>
              <a:t>[10] Kumar, A., &amp; Singh, P. (2023). A study of predictive analytics for fraud detection using machine learning techniques. </a:t>
            </a:r>
            <a:r>
              <a:rPr lang="en-GB" sz="2000" i="1" dirty="0"/>
              <a:t>International Journal of Financial Management Research</a:t>
            </a:r>
            <a:r>
              <a:rPr lang="en-GB" sz="2000" dirty="0"/>
              <a:t>, 5(4), 45–52.</a:t>
            </a:r>
          </a:p>
          <a:p>
            <a:r>
              <a:rPr lang="en-GB" sz="2000" dirty="0"/>
              <a:t>[11] Jain, R., Shah, D., &amp; Patel, H. (2023). Machine learning-based real-time fraud detection in financial transactions. </a:t>
            </a:r>
            <a:r>
              <a:rPr lang="en-GB" sz="2000" i="1" dirty="0"/>
              <a:t>IEEE Access</a:t>
            </a:r>
            <a:r>
              <a:rPr lang="en-GB" sz="2000" dirty="0"/>
              <a:t>, 11, 22334–22345.</a:t>
            </a:r>
          </a:p>
          <a:p>
            <a:r>
              <a:rPr lang="en-GB" sz="2000" dirty="0"/>
              <a:t>[12] Patel, M., Desai, K., &amp; Joshi, A. (2023). Digital twin-based simulation for fraud risk assessment in financial systems. </a:t>
            </a:r>
            <a:r>
              <a:rPr lang="en-GB" sz="2000" i="1" dirty="0"/>
              <a:t>IEEE Transactions on Dependable and Secure Computing</a:t>
            </a:r>
            <a:r>
              <a:rPr lang="en-GB" sz="2000" dirty="0"/>
              <a:t>, 20(4), 5678–5689.</a:t>
            </a:r>
          </a:p>
          <a:p>
            <a:r>
              <a:rPr lang="en-GB" sz="2000" dirty="0"/>
              <a:t>[13] Iyer, V., Krishnan, R., &amp; Menon, A. (2023). Explainable artificial intelligence (XAI): A systematic literature review. </a:t>
            </a:r>
            <a:r>
              <a:rPr lang="en-GB" sz="2000" i="1" dirty="0"/>
              <a:t>IEEE Access</a:t>
            </a:r>
            <a:r>
              <a:rPr lang="en-GB" sz="2000" dirty="0"/>
              <a:t>, 11, 33445–33460.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997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REFERENCES (CONTD..,)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000" dirty="0"/>
              <a:t>[14] Kapoor, S., Bansal, R., &amp; Agarwal, P. (2023). Cybersecurity simulation using digital twin technology. </a:t>
            </a:r>
            <a:r>
              <a:rPr lang="en-GB" sz="2000" i="1" dirty="0"/>
              <a:t>ACM Computing Surveys</a:t>
            </a:r>
            <a:r>
              <a:rPr lang="en-GB" sz="2000" dirty="0"/>
              <a:t>, 55(7), 1–25.</a:t>
            </a:r>
          </a:p>
          <a:p>
            <a:r>
              <a:rPr lang="en-GB" sz="2000" dirty="0"/>
              <a:t>[15] Mishra, S., Gupta, R., &amp; Tiwari, P. (2023). A survey on machine learning approaches for telecom fraud detection. </a:t>
            </a:r>
            <a:r>
              <a:rPr lang="en-GB" sz="2000" i="1" dirty="0"/>
              <a:t>IEEE Communications Surveys &amp; Tutorials</a:t>
            </a:r>
            <a:r>
              <a:rPr lang="en-GB" sz="2000" dirty="0"/>
              <a:t>, 25(3), 1456–1478.</a:t>
            </a:r>
          </a:p>
          <a:p>
            <a:r>
              <a:rPr lang="en-GB" sz="2000" dirty="0"/>
              <a:t>[16] Ghosh, D., Roy, S., &amp; Das, A. (2023). Cybersecurity threat detection in financial institutions using artificial intelligence. </a:t>
            </a:r>
            <a:r>
              <a:rPr lang="en-GB" sz="2000" i="1" dirty="0"/>
              <a:t>IEEE Access</a:t>
            </a:r>
            <a:r>
              <a:rPr lang="en-GB" sz="2000" dirty="0"/>
              <a:t>, 11, 55667–55680.</a:t>
            </a:r>
          </a:p>
          <a:p>
            <a:r>
              <a:rPr lang="en-GB" sz="2000" dirty="0"/>
              <a:t>[17] Desai, K., Patel, V., &amp; Shah, R. (2023). Impact of deep feature synthesis on deep learning in electronic fraud detection. </a:t>
            </a:r>
            <a:r>
              <a:rPr lang="en-GB" sz="2000" i="1" dirty="0"/>
              <a:t>IEEE Transactions on Big Data</a:t>
            </a:r>
            <a:r>
              <a:rPr lang="en-GB" sz="2000" dirty="0"/>
              <a:t>, 9(2), 345–356.</a:t>
            </a:r>
          </a:p>
          <a:p>
            <a:r>
              <a:rPr lang="en-GB" sz="2000" dirty="0"/>
              <a:t>[18] Joshi, A., Mehta, S., &amp; Kumar, R. (2023). Fighting insurance fraud with hybrid AI/ML models. </a:t>
            </a:r>
            <a:r>
              <a:rPr lang="en-GB" sz="2000" i="1" dirty="0"/>
              <a:t>IEEE Access</a:t>
            </a:r>
            <a:r>
              <a:rPr lang="en-GB" sz="2000" dirty="0"/>
              <a:t>, 11, 77889–77905.</a:t>
            </a:r>
          </a:p>
          <a:p>
            <a:r>
              <a:rPr lang="en-GB" sz="2000" dirty="0"/>
              <a:t>[19] Agarwal, P., Singh, V., &amp; Sharma, R. (2023). Synthetic data in cybersecurity: A comprehensive review. </a:t>
            </a:r>
            <a:r>
              <a:rPr lang="en-GB" sz="2000" i="1" dirty="0"/>
              <a:t>IEEE Access</a:t>
            </a:r>
            <a:r>
              <a:rPr lang="en-GB" sz="2000" dirty="0"/>
              <a:t>, 11, 88990–89005.</a:t>
            </a:r>
          </a:p>
          <a:p>
            <a:r>
              <a:rPr lang="en-GB" sz="2000" dirty="0"/>
              <a:t>[20] Sen, T., Banerjee, A., &amp; Roy, P. (2023). Can synthetic data protect privacy in cybersecurity systems? </a:t>
            </a:r>
            <a:r>
              <a:rPr lang="en-GB" sz="2000" i="1" dirty="0"/>
              <a:t>Computers &amp; Security</a:t>
            </a:r>
            <a:r>
              <a:rPr lang="en-GB" sz="2000" dirty="0"/>
              <a:t>, 128, 103234.</a:t>
            </a:r>
          </a:p>
          <a:p>
            <a:pPr marL="0" indent="0" algn="just">
              <a:buNone/>
            </a:pPr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2257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819401"/>
            <a:ext cx="11521440" cy="1219200"/>
          </a:xfrm>
        </p:spPr>
        <p:txBody>
          <a:bodyPr>
            <a:normAutofit fontScale="90000"/>
          </a:bodyPr>
          <a:lstStyle/>
          <a:p>
            <a:r>
              <a:rPr lang="en-US" sz="10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98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15881</TotalTime>
  <Words>3079</Words>
  <Application>Microsoft Office PowerPoint</Application>
  <PresentationFormat>Custom</PresentationFormat>
  <Paragraphs>243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Times New Roman</vt:lpstr>
      <vt:lpstr>Wingdings</vt:lpstr>
      <vt:lpstr>Office Theme</vt:lpstr>
      <vt:lpstr>Digital twin Enabled Framework for Forecasting and Mitigating Fraud</vt:lpstr>
      <vt:lpstr>CONTENTS</vt:lpstr>
      <vt:lpstr>1.ABSTRACT</vt:lpstr>
      <vt:lpstr>2. INTRODUCTION</vt:lpstr>
      <vt:lpstr>3.LITERATURE SURVEY</vt:lpstr>
      <vt:lpstr>LITERATURE SURVEY (CONTD..,)</vt:lpstr>
      <vt:lpstr>LITERATURE SURVEY (CONTD..,)</vt:lpstr>
      <vt:lpstr>4. RESEARCH GAPS</vt:lpstr>
      <vt:lpstr>5. OBJECTIVES</vt:lpstr>
      <vt:lpstr>6. MODULE IDENTIFICATION</vt:lpstr>
      <vt:lpstr>6. MODULE IDENTIFICATION (CONTD)</vt:lpstr>
      <vt:lpstr>7. Module Interaction Diagram </vt:lpstr>
      <vt:lpstr>7. SYSTEM ARCHITECTURE</vt:lpstr>
      <vt:lpstr>8. DEVELOPMENT &amp; INTEGRATION</vt:lpstr>
      <vt:lpstr>8. DEVELOPMENT &amp; INTEGRATION (CONTD)</vt:lpstr>
      <vt:lpstr>8. DEVELOPMENT &amp; INTEGRATION (CONTD)</vt:lpstr>
      <vt:lpstr>9. PROTOTYPE / RESEARCH FRAMEWORK</vt:lpstr>
      <vt:lpstr>10. OUTCOME</vt:lpstr>
      <vt:lpstr>10. OUTCOME (CONTD..)</vt:lpstr>
      <vt:lpstr>10. OUTCOME (CONTD..)</vt:lpstr>
      <vt:lpstr>10. OUTCOME (CONTD..)</vt:lpstr>
      <vt:lpstr>11. RESULTS</vt:lpstr>
      <vt:lpstr>11. RESULTS (CONTD..)</vt:lpstr>
      <vt:lpstr>11. RESULTS (CONTD..)</vt:lpstr>
      <vt:lpstr>12. TIMELINE / GANTT CHART</vt:lpstr>
      <vt:lpstr>13. REFERENCES</vt:lpstr>
      <vt:lpstr>REFERENCES (CONTD..,)</vt:lpstr>
      <vt:lpstr>REFERENCES (CONTD..,)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APPROACH TO REDUCE LOAD ON CHANGE IMPACT ANALYSIS OVER SOFTWARE DEVELOPMENT</dc:title>
  <dc:creator>admin</dc:creator>
  <cp:lastModifiedBy>Shambhu Pandey</cp:lastModifiedBy>
  <cp:revision>129</cp:revision>
  <dcterms:created xsi:type="dcterms:W3CDTF">2020-07-13T09:49:45Z</dcterms:created>
  <dcterms:modified xsi:type="dcterms:W3CDTF">2026-04-08T08:20:36Z</dcterms:modified>
</cp:coreProperties>
</file>