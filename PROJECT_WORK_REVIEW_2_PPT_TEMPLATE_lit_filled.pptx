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4"/>
  </p:notesMasterIdLst>
  <p:sldIdLst>
    <p:sldId id="256" r:id="rId2"/>
    <p:sldId id="324" r:id="rId3"/>
    <p:sldId id="259" r:id="rId4"/>
    <p:sldId id="260" r:id="rId5"/>
    <p:sldId id="325" r:id="rId6"/>
    <p:sldId id="264" r:id="rId7"/>
    <p:sldId id="323" r:id="rId8"/>
    <p:sldId id="333" r:id="rId9"/>
    <p:sldId id="334" r:id="rId10"/>
    <p:sldId id="265" r:id="rId11"/>
    <p:sldId id="312" r:id="rId12"/>
    <p:sldId id="328" r:id="rId13"/>
    <p:sldId id="330" r:id="rId14"/>
    <p:sldId id="331" r:id="rId15"/>
    <p:sldId id="332" r:id="rId16"/>
    <p:sldId id="327" r:id="rId17"/>
    <p:sldId id="316" r:id="rId18"/>
    <p:sldId id="317" r:id="rId19"/>
    <p:sldId id="318" r:id="rId20"/>
    <p:sldId id="319" r:id="rId21"/>
    <p:sldId id="320" r:id="rId22"/>
    <p:sldId id="321" r:id="rId23"/>
    <p:sldId id="335" r:id="rId29"/>
    <p:sldId id="336" r:id="rId30"/>
    <p:sldId id="337" r:id="rId31"/>
    <p:sldId id="338" r:id="rId32"/>
    <p:sldId id="339" r:id="rId33"/>
    <p:sldId id="340" r:id="rId34"/>
    <p:sldId id="341" r:id="rId35"/>
    <p:sldId id="342" r:id="rId36"/>
    <p:sldId id="343" r:id="rId37"/>
    <p:sldId id="344" r:id="rId38"/>
    <p:sldId id="345" r:id="rId39"/>
    <p:sldId id="346" r:id="rId40"/>
    <p:sldId id="347" r:id="rId41"/>
  </p:sldIdLst>
  <p:sldSz cx="12801600" cy="7315200"/>
  <p:notesSz cx="6858000" cy="9144000"/>
  <p:defaultTextStyle>
    <a:defPPr>
      <a:defRPr lang="en-US"/>
    </a:defPPr>
    <a:lvl1pPr marL="0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23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304">
          <p15:clr>
            <a:srgbClr val="A4A3A4"/>
          </p15:clr>
        </p15:guide>
        <p15:guide id="2" pos="403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E1F2"/>
    <a:srgbClr val="558ED5"/>
    <a:srgbClr val="C6D9F1"/>
    <a:srgbClr val="558E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931" y="53"/>
      </p:cViewPr>
      <p:guideLst>
        <p:guide orient="horz" pos="2304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CD7A36-15CF-4B40-B7C9-B299C824610E}" type="datetimeFigureOut">
              <a:rPr lang="en-US" smtClean="0"/>
              <a:t>3/30/2026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8625" y="685800"/>
            <a:ext cx="6000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3DE4103-D868-498D-BB7B-ABDA25F9744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6365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1pPr>
    <a:lvl2pPr marL="57472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2pPr>
    <a:lvl3pPr marL="1149448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3pPr>
    <a:lvl4pPr marL="1724172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4pPr>
    <a:lvl5pPr marL="2298895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5pPr>
    <a:lvl6pPr marL="2873621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6pPr>
    <a:lvl7pPr marL="3448344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7pPr>
    <a:lvl8pPr marL="4023069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8pPr>
    <a:lvl9pPr marL="4597793" algn="l" defTabSz="1149448" rtl="0" eaLnBrk="1" latinLnBrk="0" hangingPunct="1">
      <a:defRPr sz="15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2272456"/>
            <a:ext cx="10881360" cy="156802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0240" y="4145280"/>
            <a:ext cx="8961120" cy="18694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747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1494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7241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2988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8736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4483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0230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5977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2E1E87-9C15-4984-91E0-215221CAF7F6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58825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116BE9-D6CB-4D14-A12D-7F5512E1435B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10616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1238" y="4700695"/>
            <a:ext cx="10881360" cy="1452880"/>
          </a:xfrm>
        </p:spPr>
        <p:txBody>
          <a:bodyPr anchor="t"/>
          <a:lstStyle>
            <a:lvl1pPr algn="l">
              <a:defRPr sz="51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11238" y="3100496"/>
            <a:ext cx="10881360" cy="1600199"/>
          </a:xfrm>
        </p:spPr>
        <p:txBody>
          <a:bodyPr anchor="b"/>
          <a:lstStyle>
            <a:lvl1pPr marL="0" indent="0">
              <a:buNone/>
              <a:defRPr sz="2500">
                <a:solidFill>
                  <a:schemeClr val="tx1">
                    <a:tint val="75000"/>
                  </a:schemeClr>
                </a:solidFill>
              </a:defRPr>
            </a:lvl1pPr>
            <a:lvl2pPr marL="574724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14944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72417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298895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873621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44834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402306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597793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A9D04-24B9-408C-A000-3B78FDBD0AEB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60235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400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7480" y="1706880"/>
            <a:ext cx="5654040" cy="4827694"/>
          </a:xfrm>
        </p:spPr>
        <p:txBody>
          <a:bodyPr/>
          <a:lstStyle>
            <a:lvl1pPr>
              <a:defRPr sz="3500"/>
            </a:lvl1pPr>
            <a:lvl2pPr>
              <a:defRPr sz="3000"/>
            </a:lvl2pPr>
            <a:lvl3pPr>
              <a:defRPr sz="25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B91B48-F2B5-44C0-A324-732125246729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833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637454"/>
            <a:ext cx="5656263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0080" y="2319868"/>
            <a:ext cx="5656263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03037" y="1637454"/>
            <a:ext cx="5658485" cy="68241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574724" indent="0">
              <a:buNone/>
              <a:defRPr sz="2500" b="1"/>
            </a:lvl2pPr>
            <a:lvl3pPr marL="1149448" indent="0">
              <a:buNone/>
              <a:defRPr sz="2300" b="1"/>
            </a:lvl3pPr>
            <a:lvl4pPr marL="1724172" indent="0">
              <a:buNone/>
              <a:defRPr sz="2000" b="1"/>
            </a:lvl4pPr>
            <a:lvl5pPr marL="2298895" indent="0">
              <a:buNone/>
              <a:defRPr sz="2000" b="1"/>
            </a:lvl5pPr>
            <a:lvl6pPr marL="2873621" indent="0">
              <a:buNone/>
              <a:defRPr sz="2000" b="1"/>
            </a:lvl6pPr>
            <a:lvl7pPr marL="3448344" indent="0">
              <a:buNone/>
              <a:defRPr sz="2000" b="1"/>
            </a:lvl7pPr>
            <a:lvl8pPr marL="4023069" indent="0">
              <a:buNone/>
              <a:defRPr sz="2000" b="1"/>
            </a:lvl8pPr>
            <a:lvl9pPr marL="4597793" indent="0">
              <a:buNone/>
              <a:defRPr sz="20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3037" y="2319868"/>
            <a:ext cx="5658485" cy="4214707"/>
          </a:xfrm>
        </p:spPr>
        <p:txBody>
          <a:bodyPr/>
          <a:lstStyle>
            <a:lvl1pPr>
              <a:defRPr sz="3000"/>
            </a:lvl1pPr>
            <a:lvl2pPr>
              <a:defRPr sz="2500"/>
            </a:lvl2pPr>
            <a:lvl3pPr>
              <a:defRPr sz="23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337E91-F602-4F18-92CA-FB1A231376B0}" type="datetime1">
              <a:rPr lang="en-US" smtClean="0"/>
              <a:t>3/30/2026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677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818EFE-411D-495F-AE32-482368671348}" type="datetime1">
              <a:rPr lang="en-US" smtClean="0"/>
              <a:t>3/30/2026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62177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129DD-E279-4A67-BA32-75987FE76FB7}" type="datetime1">
              <a:rPr lang="en-US" smtClean="0"/>
              <a:t>3/30/2026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40107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2" y="291252"/>
            <a:ext cx="4211638" cy="1239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05070" y="291255"/>
            <a:ext cx="7156450" cy="6243321"/>
          </a:xfrm>
        </p:spPr>
        <p:txBody>
          <a:bodyPr/>
          <a:lstStyle>
            <a:lvl1pPr>
              <a:defRPr sz="3900"/>
            </a:lvl1pPr>
            <a:lvl2pPr>
              <a:defRPr sz="3500"/>
            </a:lvl2pPr>
            <a:lvl3pPr>
              <a:defRPr sz="3000"/>
            </a:lvl3pPr>
            <a:lvl4pPr>
              <a:defRPr sz="2500"/>
            </a:lvl4pPr>
            <a:lvl5pPr>
              <a:defRPr sz="2500"/>
            </a:lvl5pPr>
            <a:lvl6pPr>
              <a:defRPr sz="2500"/>
            </a:lvl6pPr>
            <a:lvl7pPr>
              <a:defRPr sz="2500"/>
            </a:lvl7pPr>
            <a:lvl8pPr>
              <a:defRPr sz="2500"/>
            </a:lvl8pPr>
            <a:lvl9pPr>
              <a:defRPr sz="2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0082" y="1530775"/>
            <a:ext cx="4211638" cy="5003802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7BA02B-9B73-458F-B848-E99C8FA83242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9433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09203" y="5120640"/>
            <a:ext cx="7680960" cy="604521"/>
          </a:xfrm>
        </p:spPr>
        <p:txBody>
          <a:bodyPr anchor="b"/>
          <a:lstStyle>
            <a:lvl1pPr algn="l">
              <a:defRPr sz="2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09203" y="653626"/>
            <a:ext cx="7680960" cy="4389120"/>
          </a:xfrm>
        </p:spPr>
        <p:txBody>
          <a:bodyPr/>
          <a:lstStyle>
            <a:lvl1pPr marL="0" indent="0">
              <a:buNone/>
              <a:defRPr sz="3900"/>
            </a:lvl1pPr>
            <a:lvl2pPr marL="574724" indent="0">
              <a:buNone/>
              <a:defRPr sz="3500"/>
            </a:lvl2pPr>
            <a:lvl3pPr marL="1149448" indent="0">
              <a:buNone/>
              <a:defRPr sz="3000"/>
            </a:lvl3pPr>
            <a:lvl4pPr marL="1724172" indent="0">
              <a:buNone/>
              <a:defRPr sz="2500"/>
            </a:lvl4pPr>
            <a:lvl5pPr marL="2298895" indent="0">
              <a:buNone/>
              <a:defRPr sz="2500"/>
            </a:lvl5pPr>
            <a:lvl6pPr marL="2873621" indent="0">
              <a:buNone/>
              <a:defRPr sz="2500"/>
            </a:lvl6pPr>
            <a:lvl7pPr marL="3448344" indent="0">
              <a:buNone/>
              <a:defRPr sz="2500"/>
            </a:lvl7pPr>
            <a:lvl8pPr marL="4023069" indent="0">
              <a:buNone/>
              <a:defRPr sz="2500"/>
            </a:lvl8pPr>
            <a:lvl9pPr marL="4597793" indent="0">
              <a:buNone/>
              <a:defRPr sz="2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09203" y="5725161"/>
            <a:ext cx="7680960" cy="858519"/>
          </a:xfrm>
        </p:spPr>
        <p:txBody>
          <a:bodyPr/>
          <a:lstStyle>
            <a:lvl1pPr marL="0" indent="0">
              <a:buNone/>
              <a:defRPr sz="1800"/>
            </a:lvl1pPr>
            <a:lvl2pPr marL="574724" indent="0">
              <a:buNone/>
              <a:defRPr sz="1500"/>
            </a:lvl2pPr>
            <a:lvl3pPr marL="1149448" indent="0">
              <a:buNone/>
              <a:defRPr sz="1300"/>
            </a:lvl3pPr>
            <a:lvl4pPr marL="1724172" indent="0">
              <a:buNone/>
              <a:defRPr sz="1100"/>
            </a:lvl4pPr>
            <a:lvl5pPr marL="2298895" indent="0">
              <a:buNone/>
              <a:defRPr sz="1100"/>
            </a:lvl5pPr>
            <a:lvl6pPr marL="2873621" indent="0">
              <a:buNone/>
              <a:defRPr sz="1100"/>
            </a:lvl6pPr>
            <a:lvl7pPr marL="3448344" indent="0">
              <a:buNone/>
              <a:defRPr sz="1100"/>
            </a:lvl7pPr>
            <a:lvl8pPr marL="4023069" indent="0">
              <a:buNone/>
              <a:defRPr sz="1100"/>
            </a:lvl8pPr>
            <a:lvl9pPr marL="4597793" indent="0">
              <a:buNone/>
              <a:defRPr sz="11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752997-1B9E-4EF2-B260-9EB38D81F553}" type="datetime1">
              <a:rPr lang="en-US" smtClean="0"/>
              <a:t>3/30/2026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600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1370E5-7D69-44CE-AE73-71BFC3B68EE4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098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81160" y="292948"/>
            <a:ext cx="2880360" cy="624162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0080" y="292948"/>
            <a:ext cx="8427720" cy="624162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F8B80-F83C-48AA-AA3F-63D37C1606D6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13546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0080" y="292946"/>
            <a:ext cx="11521440" cy="1219200"/>
          </a:xfrm>
          <a:prstGeom prst="rect">
            <a:avLst/>
          </a:prstGeom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l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5C8E2D-1657-4F9E-9BA7-8881C66FCBC2}" type="datetime1">
              <a:rPr lang="en-US" smtClean="0"/>
              <a:t>3/30/2026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373880" y="6780107"/>
            <a:ext cx="40538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ct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174480" y="6780107"/>
            <a:ext cx="2987040" cy="389467"/>
          </a:xfrm>
          <a:prstGeom prst="rect">
            <a:avLst/>
          </a:prstGeom>
        </p:spPr>
        <p:txBody>
          <a:bodyPr vert="horz" lIns="114945" tIns="57473" rIns="114945" bIns="57473" rtlCol="0" anchor="ctr"/>
          <a:lstStyle>
            <a:lvl1pPr algn="r">
              <a:defRPr sz="15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2A2637-A5A3-49FA-B214-6E67543099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10387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1149448" rtl="0" eaLnBrk="1" latinLnBrk="0" hangingPunct="1">
        <a:spcBef>
          <a:spcPct val="0"/>
        </a:spcBef>
        <a:buNone/>
        <a:defRPr sz="55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31044" indent="-431044" algn="l" defTabSz="1149448" rtl="0" eaLnBrk="1" latinLnBrk="0" hangingPunct="1">
        <a:spcBef>
          <a:spcPct val="20000"/>
        </a:spcBef>
        <a:buFont typeface="Arial" pitchFamily="34" charset="0"/>
        <a:buChar char="•"/>
        <a:defRPr sz="3900" kern="1200">
          <a:solidFill>
            <a:schemeClr val="tx1"/>
          </a:solidFill>
          <a:latin typeface="+mn-lt"/>
          <a:ea typeface="+mn-ea"/>
          <a:cs typeface="+mn-cs"/>
        </a:defRPr>
      </a:lvl1pPr>
      <a:lvl2pPr marL="933926" indent="-359202" algn="l" defTabSz="1149448" rtl="0" eaLnBrk="1" latinLnBrk="0" hangingPunct="1">
        <a:spcBef>
          <a:spcPct val="20000"/>
        </a:spcBef>
        <a:buFont typeface="Arial" pitchFamily="34" charset="0"/>
        <a:buChar char="–"/>
        <a:defRPr sz="3500" kern="1200">
          <a:solidFill>
            <a:schemeClr val="tx1"/>
          </a:solidFill>
          <a:latin typeface="+mn-lt"/>
          <a:ea typeface="+mn-ea"/>
          <a:cs typeface="+mn-cs"/>
        </a:defRPr>
      </a:lvl2pPr>
      <a:lvl3pPr marL="143681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011534" indent="-287362" algn="l" defTabSz="1149448" rtl="0" eaLnBrk="1" latinLnBrk="0" hangingPunct="1">
        <a:spcBef>
          <a:spcPct val="20000"/>
        </a:spcBef>
        <a:buFont typeface="Arial" pitchFamily="34" charset="0"/>
        <a:buChar char="–"/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86258" indent="-287362" algn="l" defTabSz="1149448" rtl="0" eaLnBrk="1" latinLnBrk="0" hangingPunct="1">
        <a:spcBef>
          <a:spcPct val="20000"/>
        </a:spcBef>
        <a:buFont typeface="Arial" pitchFamily="34" charset="0"/>
        <a:buChar char="»"/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160983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735707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310430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4885155" indent="-287362" algn="l" defTabSz="1149448" rtl="0" eaLnBrk="1" latinLnBrk="0" hangingPunct="1">
        <a:spcBef>
          <a:spcPct val="20000"/>
        </a:spcBef>
        <a:buFont typeface="Arial" pitchFamily="34" charset="0"/>
        <a:buChar char="•"/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1pPr>
      <a:lvl2pPr marL="57472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1149448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724172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298895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73621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48344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4023069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597793" algn="l" defTabSz="1149448" rtl="0" eaLnBrk="1" latinLnBrk="0" hangingPunct="1"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12801600" cy="1600199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Autofit/>
          </a:bodyPr>
          <a:lstStyle/>
          <a:p>
            <a:r>
              <a:rPr lang="en-US" sz="39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&lt;&lt;PROJECT TITLE **TIMES NEW ROMAN FONT SIZE 39**&gt;&gt;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6920" y="3088640"/>
            <a:ext cx="8961120" cy="3982720"/>
          </a:xfrm>
        </p:spPr>
        <p:txBody>
          <a:bodyPr>
            <a:normAutofit fontScale="47500" lnSpcReduction="20000"/>
          </a:bodyPr>
          <a:lstStyle/>
          <a:p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Project Work Review-II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Presented by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&lt;&lt;STUDENT NAME (STUDENT REGISTER NO)&gt;&gt;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&lt;&lt;</a:t>
            </a:r>
            <a:r>
              <a:rPr lang="en-US" sz="4400" dirty="0" err="1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M.Tech</a:t>
            </a:r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Computer Science and Engineering (SPECILAZATION)&gt;&gt;</a:t>
            </a:r>
          </a:p>
          <a:p>
            <a:endParaRPr lang="en-US" sz="4400" dirty="0">
              <a:solidFill>
                <a:schemeClr val="accent1">
                  <a:lumMod val="50000"/>
                </a:schemeClr>
              </a:solidFill>
              <a:latin typeface="Times New Roman" pitchFamily="18" charset="0"/>
              <a:cs typeface="Times New Roman" pitchFamily="18" charset="0"/>
            </a:endParaRP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Under the Guidance of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&lt;&lt;GUIDE NAME&gt;&gt;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&lt;&lt;GUIDE DESIGNATION&gt;&gt;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School of Computer Science and Engineering</a:t>
            </a:r>
          </a:p>
          <a:p>
            <a:r>
              <a:rPr lang="en-US" sz="4400" dirty="0">
                <a:solidFill>
                  <a:schemeClr val="accent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Vellore Institute of Technology, Chennai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1026" name="Picture 2" descr="VIT Logo">
            <a:extLst>
              <a:ext uri="{FF2B5EF4-FFF2-40B4-BE49-F238E27FC236}">
                <a16:creationId xmlns:a16="http://schemas.microsoft.com/office/drawing/2014/main" id="{3480622C-94EE-8879-D91B-FCEDA7BB9B6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2591" y="1831079"/>
            <a:ext cx="4716417" cy="1289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7" name="TextBox 1026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Name: Shambhu Pandey    Reg No: 25MCA1020    Guide: Tamilrashi</a:t>
            </a:r>
          </a:p>
        </p:txBody>
      </p:sp>
    </p:spTree>
    <p:extLst>
      <p:ext uri="{BB962C8B-B14F-4D97-AF65-F5344CB8AC3E}">
        <p14:creationId xmlns:p14="http://schemas.microsoft.com/office/powerpoint/2010/main" val="499843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</a:t>
            </a:fld>
            <a:endParaRPr lang="en-US" dirty="0"/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CONTENTS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640080" y="1706880"/>
            <a:ext cx="11521440" cy="4827694"/>
          </a:xfrm>
          <a:prstGeom prst="rect">
            <a:avLst/>
          </a:prstGeom>
        </p:spPr>
        <p:txBody>
          <a:bodyPr vert="horz" lIns="114945" tIns="57473" rIns="114945" bIns="57473" rtlCol="0">
            <a:normAutofit fontScale="85000" lnSpcReduction="20000"/>
          </a:bodyPr>
          <a:lstStyle>
            <a:lvl1pPr marL="431044" indent="-431044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33926" indent="-35920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3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43681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011534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586258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160983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735707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310430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885155" indent="-287362" algn="l" defTabSz="114944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RESEARCH GAPS 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IDENTIFICATION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DEVELOPMENT &amp; INTEGRATION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PROTOTYPE / RESEARCH FRAMEWORK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OUTCOME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/ GANTT CHART</a:t>
            </a:r>
          </a:p>
          <a:p>
            <a:pPr fontAlgn="ctr">
              <a:buFont typeface="Wingdings" panose="05000000000000000000" pitchFamily="2" charset="2"/>
              <a:buChar char="v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2490154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1.ABSTRACT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06880"/>
            <a:ext cx="11704320" cy="48276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MORE THAN 200 WORDS FONT TIMES NEW ROMAN SIZE 24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400" dirty="0"/>
              <a:t>Brief summary of project including problem, methodology, and expected outcome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943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9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400" dirty="0"/>
              <a:t>Overview of problem domain, motivation, and objectives (max 150 words)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 SIZE 24&gt;&gt;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39748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58538444"/>
              </p:ext>
            </p:extLst>
          </p:nvPr>
        </p:nvGraphicFramePr>
        <p:xfrm>
          <a:off x="685799" y="1669892"/>
          <a:ext cx="11475720" cy="4322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82880" y="1188720"/>
          <a:ext cx="877824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2743200"/>
                <a:gridCol w="2011680"/>
                <a:gridCol w="2194560"/>
                <a:gridCol w="1371600"/>
              </a:tblGrid>
              <a:tr h="457200">
                <a:tc>
                  <a:txBody>
                    <a:bodyPr/>
                    <a:lstStyle/>
                    <a:p>
                      <a:r>
                        <a:rPr b="1" sz="1200"/>
                        <a:t>S.No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Article 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Techniques 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Key Findings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200"/>
                        <a:t>Limitations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Statistical Fraud Detection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Statistical tests, rule-based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Surveys classical approaches and common fraud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Older methods struggle with evolving fraud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Data Mining for Financial Fraud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Decision trees, SVM, ensembles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ML improves detection over rules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Class imbalance reduces effectiveness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XGBoost for Classification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Gradient boosting (XGBoost)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High accuracy and strong performance on imbalanced 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Requires careful hyperparameter tuning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SHAP: Model Explanations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SHAP value explanations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Provides clear feature contributions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Computational cost for large datasets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SMOTE: Oversampling Minority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SMOTE resampling + classifiers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Improves recall for minority class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Risk of overfitting synthetic samples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Isolation Forest for Anomalies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Isolation Forest (unsupervised)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Detects novel/rare fraud patterns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High false positive rate on noisy data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Autoencoder Anomaly Detection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Autoencoders (neural nets)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Finds unseen/novel frauds via reconstruction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Needs large clean data and tuning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Cost‑Sensitive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Cost-sensitive loss, class weighting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Reduces business cost by penalizing FN/FP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Choosing costs requires domain knowledge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Real‑time Fraud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Stream processing + lightweight 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Supports low-latency scoring for live transactions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Engineering complexity and deployment overhead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10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Ensemble &amp; Hybrid Approaches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Stacking/ensembles (LR, RF, XGBoost)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Ensembles improve robustness and metrics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100"/>
                        <a:t>Increased inference latency and complexity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54781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 (CONTD..,)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6</a:t>
            </a:fld>
            <a:endParaRPr lang="en-US"/>
          </a:p>
        </p:txBody>
      </p:sp>
      <p:graphicFrame>
        <p:nvGraphicFramePr>
          <p:cNvPr id="9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20043257"/>
              </p:ext>
            </p:extLst>
          </p:nvPr>
        </p:nvGraphicFramePr>
        <p:xfrm>
          <a:off x="685799" y="1669892"/>
          <a:ext cx="11475720" cy="4322477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5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6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7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8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indent="0" algn="just" defTabSz="914400" rtl="0" eaLnBrk="1" fontAlgn="auto" latinLnBrk="0" hangingPunct="1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16665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LITERATURE SURVEY (CONTD..,)</a:t>
            </a:r>
            <a:endParaRPr lang="en-GB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7</a:t>
            </a:fld>
            <a:endParaRPr lang="en-US"/>
          </a:p>
        </p:txBody>
      </p:sp>
      <p:graphicFrame>
        <p:nvGraphicFramePr>
          <p:cNvPr id="5" name="Content Placeholder 5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3940012"/>
              </p:ext>
            </p:extLst>
          </p:nvPr>
        </p:nvGraphicFramePr>
        <p:xfrm>
          <a:off x="685799" y="1669892"/>
          <a:ext cx="11475720" cy="2359564"/>
        </p:xfrm>
        <a:graphic>
          <a:graphicData uri="http://schemas.openxmlformats.org/drawingml/2006/table">
            <a:tbl>
              <a:tblPr firstRow="1" firstCol="1" bandRow="1">
                <a:tableStyleId>{BC89EF96-8CEA-46FF-86C4-4CE0E7609802}</a:tableStyleId>
              </a:tblPr>
              <a:tblGrid>
                <a:gridCol w="7021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437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784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43030">
                  <a:extLst>
                    <a:ext uri="{9D8B030D-6E8A-4147-A177-3AD203B41FA5}">
                      <a16:colId xmlns:a16="http://schemas.microsoft.com/office/drawing/2014/main" val="1023101934"/>
                    </a:ext>
                  </a:extLst>
                </a:gridCol>
                <a:gridCol w="2468948">
                  <a:extLst>
                    <a:ext uri="{9D8B030D-6E8A-4147-A177-3AD203B41FA5}">
                      <a16:colId xmlns:a16="http://schemas.microsoft.com/office/drawing/2014/main" val="548304626"/>
                    </a:ext>
                  </a:extLst>
                </a:gridCol>
              </a:tblGrid>
              <a:tr h="39665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S.No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Article  Title </a:t>
                      </a:r>
                      <a:endParaRPr lang="en-US" sz="20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Techniques Used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Key Findings</a:t>
                      </a: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Times New Roman" pitchFamily="18" charset="0"/>
                          <a:ea typeface="Calibri"/>
                          <a:cs typeface="Times New Roman" pitchFamily="18" charset="0"/>
                        </a:rPr>
                        <a:t>Limitations</a:t>
                      </a: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2166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9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>
                    <a:solidFill>
                      <a:srgbClr val="C4E1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124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Times New Roman" pitchFamily="18" charset="0"/>
                          <a:ea typeface="+mn-ea"/>
                          <a:cs typeface="Times New Roman" pitchFamily="18" charset="0"/>
                        </a:rPr>
                        <a:t>10</a:t>
                      </a: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tc>
                  <a:txBody>
                    <a:bodyPr/>
                    <a:lstStyle/>
                    <a:p>
                      <a:pPr marL="0" marR="0" algn="just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en-US" sz="1600" dirty="0">
                        <a:effectLst/>
                        <a:latin typeface="Times New Roman" pitchFamily="18" charset="0"/>
                        <a:ea typeface="Calibri"/>
                        <a:cs typeface="Times New Roman" pitchFamily="18" charset="0"/>
                      </a:endParaRPr>
                    </a:p>
                  </a:txBody>
                  <a:tcPr marL="67838" marR="67838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452434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24EBC-07D1-5582-ECAD-FB015F64B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3089C-2484-51E9-0A89-B13831434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4. RESEARCH GAPS</a:t>
            </a:r>
            <a:endParaRPr lang="en-GB" sz="3700" b="1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E1DF2F-2EFC-F28C-9A44-F9337C42CA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154028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7266A5-DEC6-423E-4642-6DAA46905B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FC9D02-AB68-99CB-182A-0A2671D6B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114945" tIns="57473" rIns="114945" bIns="57473" rtlCol="0" anchor="ctr">
            <a:normAutofit/>
          </a:bodyPr>
          <a:lstStyle/>
          <a:p>
            <a:r>
              <a:rPr lang="en-GB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5. OBJECTIVES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DA4E0E-51B9-057E-EB16-03F0967919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986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chemeClr val="tx2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6. MODULE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sz="2400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&lt;&lt; </a:t>
            </a:r>
            <a:r>
              <a:rPr lang="en-US" sz="2400" dirty="0"/>
              <a:t>• Identify key modules/subsystems</a:t>
            </a:r>
          </a:p>
          <a:p>
            <a:r>
              <a:rPr lang="en-US" sz="2400" dirty="0"/>
              <a:t>• Define functionality of each module</a:t>
            </a:r>
          </a:p>
          <a:p>
            <a:r>
              <a:rPr lang="en-US" sz="2400" dirty="0"/>
              <a:t>• Show module interaction</a:t>
            </a:r>
          </a:p>
          <a:p>
            <a:pPr algn="just"/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FONT TIMES NEW ROMAN SIZE 24&gt;&gt;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4165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7.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Overall architecture diagram</a:t>
            </a:r>
          </a:p>
          <a:p>
            <a:r>
              <a:rPr lang="en-US" sz="2800" dirty="0"/>
              <a:t>• Data flow between modules</a:t>
            </a:r>
          </a:p>
          <a:p>
            <a:r>
              <a:rPr lang="en-US" sz="2800" dirty="0"/>
              <a:t>• Technology stack used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TEXT FONT TIMES NEW ROMAN&gt;&gt;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8257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114F7B-448F-5933-E4F5-9F6656ACE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1540-D08A-936D-657B-2CA7AA0EF4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8. DEVELOPMENT &amp; INTEGRATION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D1C32F-FDCF-2099-8C99-4CD330488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Implementation of modules</a:t>
            </a:r>
          </a:p>
          <a:p>
            <a:r>
              <a:rPr lang="en-US" sz="2800" dirty="0"/>
              <a:t>• Integration strategy</a:t>
            </a:r>
          </a:p>
          <a:p>
            <a:r>
              <a:rPr lang="en-US" sz="2800" dirty="0"/>
              <a:t>• Challenges faced and solutions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69C87-894B-EA46-CE5B-2DDA46DB8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2432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FF5EA-D62B-1983-B948-F514CA25F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D138A4-31C7-3BA3-41EC-856FFC3F2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9. PROTOTYPE / RESEARCH FRAMEWORK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FDCD9C-F660-95CA-73DE-982F8EE86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Working prototype description</a:t>
            </a:r>
          </a:p>
          <a:p>
            <a:r>
              <a:rPr lang="en-US" sz="2800" dirty="0"/>
              <a:t>OR</a:t>
            </a:r>
          </a:p>
          <a:p>
            <a:r>
              <a:rPr lang="en-US" sz="2800" dirty="0"/>
              <a:t>• Research framework setup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5D83B01-BF0B-D797-AC89-252288DAD2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50041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88BB3-2A5B-34AC-B39B-BAE5C65E68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448EB-8A1A-C9A3-3C48-4830472042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10. OUTCOME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CA4F36-3210-D723-E79A-086D02FA6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Working model screenshots/results</a:t>
            </a:r>
          </a:p>
          <a:p>
            <a:r>
              <a:rPr lang="en-US" sz="2800" dirty="0"/>
              <a:t>OR</a:t>
            </a:r>
          </a:p>
          <a:p>
            <a:r>
              <a:rPr lang="en-US" sz="2800" dirty="0"/>
              <a:t>• Data classification &amp; analysis</a:t>
            </a:r>
          </a:p>
          <a:p>
            <a:r>
              <a:rPr lang="en-US" sz="2800" dirty="0"/>
              <a:t>• Key insights/results</a:t>
            </a:r>
          </a:p>
          <a:p>
            <a:pPr marL="0" indent="0">
              <a:buNone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63C818-3FBA-7FB8-3369-BCE4AC4BD8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7433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A6C8D-B43E-DA7C-E00A-0FC4EA185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44C6AA-E1C2-EA6C-246E-CC1479CDE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11. 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ED4B1E-A9C5-0A84-607D-7CB161B466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&lt;&lt; </a:t>
            </a:r>
            <a:r>
              <a:rPr lang="en-US" sz="2800" dirty="0"/>
              <a:t>• Performance metrics</a:t>
            </a:r>
          </a:p>
          <a:p>
            <a:r>
              <a:rPr lang="en-US" sz="2800" dirty="0"/>
              <a:t>• Observations</a:t>
            </a:r>
          </a:p>
          <a:p>
            <a:r>
              <a:rPr lang="en-US" sz="2800" dirty="0"/>
              <a:t>• Validation of approach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FONT TIMES NEW ROMAN&gt;&gt;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0BB0C0-AF3E-C46D-0A00-DD8E18E784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399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12. TIMELINE / GANTT CHART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16</a:t>
            </a:fld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4232115-B82D-8D1A-DF88-7F370475E570}"/>
              </a:ext>
            </a:extLst>
          </p:cNvPr>
          <p:cNvSpPr txBox="1"/>
          <p:nvPr/>
        </p:nvSpPr>
        <p:spPr>
          <a:xfrm>
            <a:off x="762000" y="1981200"/>
            <a:ext cx="11049000" cy="11541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• Planned vs completed tasks</a:t>
            </a:r>
          </a:p>
          <a:p>
            <a:r>
              <a:rPr lang="en-US" dirty="0"/>
              <a:t>• Next milestones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72962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/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13.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sz="2300" dirty="0">
                <a:latin typeface="Times New Roman" pitchFamily="18" charset="0"/>
                <a:cs typeface="Times New Roman" pitchFamily="18" charset="0"/>
              </a:rPr>
              <a:t>Lock, S., &amp; Kotonya, G. (1999). An integrated, probabilistic framework for requirement change impact analysis. Australasian Journal of Information Systems, 6(2).</a:t>
            </a:r>
            <a:endParaRPr lang="en-US" sz="25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HOW TO CITE A PAPER</a:t>
            </a: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GO TO GOOGLE SCHOLAR</a:t>
            </a: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GIVE THE PAPER TITLE IN SEARCH</a:t>
            </a: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ONCE THE PAPER WHAT YOU HAVE SEARCHED FOR IS LISTED </a:t>
            </a:r>
            <a:endParaRPr lang="en-US" sz="1200" dirty="0">
              <a:latin typeface="Times New Roman" pitchFamily="18" charset="0"/>
              <a:cs typeface="Times New Roman" pitchFamily="18" charset="0"/>
            </a:endParaRP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CHOOSE CITE AT THE BOTTOM OF THE PAPER</a:t>
            </a:r>
          </a:p>
          <a:p>
            <a:pPr algn="just"/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SELECT APA FORMAT AND COPY IT HERE</a:t>
            </a:r>
          </a:p>
          <a:p>
            <a:pPr marL="0" indent="0" algn="just">
              <a:buNone/>
            </a:pPr>
            <a:endParaRPr lang="en-US" sz="25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17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30A5351-9EAA-8306-D86D-CD6AE061EE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895600"/>
            <a:ext cx="6049219" cy="288647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59EC38-0956-1847-653C-51980FBF8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9200" y="4083002"/>
            <a:ext cx="4402728" cy="293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63593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8997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2573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lvl="0" algn="just"/>
            <a:endParaRPr lang="en-US" sz="23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41567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801600" cy="1512146"/>
          </a:xfrm>
          <a:solidFill>
            <a:srgbClr val="558ED5"/>
          </a:solidFill>
        </p:spPr>
        <p:txBody>
          <a:bodyPr>
            <a:normAutofit/>
          </a:bodyPr>
          <a:lstStyle/>
          <a:p>
            <a:r>
              <a:rPr lang="en-US" sz="3700" b="1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REFERENCES (CONTD..,)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0080" y="1706880"/>
            <a:ext cx="11521440" cy="438912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782953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2819401"/>
            <a:ext cx="11521440" cy="1219200"/>
          </a:xfrm>
        </p:spPr>
        <p:txBody>
          <a:bodyPr>
            <a:normAutofit fontScale="90000"/>
          </a:bodyPr>
          <a:lstStyle/>
          <a:p>
            <a:r>
              <a:rPr lang="en-US" sz="10000" b="1" dirty="0">
                <a:solidFill>
                  <a:schemeClr val="tx2">
                    <a:lumMod val="60000"/>
                    <a:lumOff val="40000"/>
                  </a:schemeClr>
                </a:solidFill>
                <a:latin typeface="Times New Roman" pitchFamily="18" charset="0"/>
                <a:cs typeface="Times New Roman" pitchFamily="18" charset="0"/>
              </a:rPr>
              <a:t>Thank You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2A2637-A5A3-49FA-B214-6E67543099EF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398038"/>
      </p:ext>
    </p:extLst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1. 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detection: identifying suspicious transactions indicating theft or abuse.</a:t>
            </a:r>
          </a:p>
          <a:p>
            <a:pPr/>
            <a:r>
              <a:t>Problem: financial fraud is increasing; rule-based systems miss novel attacks.</a:t>
            </a:r>
          </a:p>
          <a:p>
            <a:pPr/>
            <a:r>
              <a:t>Solution: ML classifiers (Random Forest, XGBoost, Autoencoder) + preprocessing + threshold tuning.</a:t>
            </a:r>
          </a:p>
          <a:p>
            <a:pPr/>
            <a:r>
              <a:t>Outcome: automated system flags likely fraud, outputs risk score and explanations.</a:t>
            </a:r>
          </a:p>
          <a:p>
            <a:pPr/>
            <a:r>
              <a:t>[SPACE FOR OUTPUT SCREENSHOT]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detection finds transactions that deviate from normal behaviour.</a:t>
            </a:r>
          </a:p>
          <a:p>
            <a:pPr/>
            <a:r>
              <a:t>Important to prevent financial loss and preserve customer trust.</a:t>
            </a:r>
          </a:p>
          <a:p>
            <a:pPr/>
            <a:r>
              <a:t>Real-world use: banks, payment gateways, e-commerce, UPI services.</a:t>
            </a:r>
          </a:p>
          <a:p>
            <a:pPr/>
            <a:r>
              <a:t>Project includes a Streamlit dashboard for live prediction and explainability.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LITERATURE SURVEY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ML for Fraud Detection — Techniques: LR, RF — Findings: Ensembles improve accuracy — Limit: Data imbalance</a:t>
            </a:r>
          </a:p>
          <a:p>
            <a:pPr/>
            <a:r>
              <a:t>2. Boosted Trees in Fraud — Techniques: XGBoost — Findings: High precision &amp; recall — Limit: Needs tuning</a:t>
            </a:r>
          </a:p>
          <a:p>
            <a:pPr/>
            <a:r>
              <a:t>3. Anomaly Detection with AE — Techniques: Autoencoder — Findings: Detects novel frauds — Limit: Needs large data</a:t>
            </a:r>
          </a:p>
          <a:p>
            <a:pPr/>
            <a:r>
              <a:t>4. SMOTE for Imbalance — Techniques: SMOTE + classifiers — Findings: Improves recall — Limit: Possible overfitting</a:t>
            </a:r>
          </a:p>
          <a:p>
            <a:pPr/>
            <a:r>
              <a:t>5. Explainable Fraud Models — Techniques: SHAP/LIME — Findings: Builds auditor trust — Limit: Computationally heavy</a:t>
            </a:r>
          </a:p>
          <a:p>
            <a:pPr/>
            <a:r>
              <a:t>6. Real-time Fraud Systems — Techniques: Stream processing + ML — Findings: Low-latency detection possible — Limit: Engineering complexity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4. RESEARCH GAPS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Low detection accuracy on emerging fraud types.</a:t>
            </a:r>
          </a:p>
          <a:p>
            <a:pPr/>
            <a:r>
              <a:t>Severe class imbalance: fraud &lt;&lt; legitimate.</a:t>
            </a:r>
          </a:p>
          <a:p>
            <a:pPr/>
            <a:r>
              <a:t>High false positives cause user friction.</a:t>
            </a:r>
          </a:p>
          <a:p>
            <a:pPr/>
            <a:r>
              <a:t>Lack of explainability and deployable pipelines.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5.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Detect fraudulent transactions using ML.</a:t>
            </a:r>
          </a:p>
          <a:p>
            <a:pPr/>
            <a:r>
              <a:t>Improve recall and F1-score.</a:t>
            </a:r>
          </a:p>
          <a:p>
            <a:pPr/>
            <a:r>
              <a:t>Handle imbalanced datasets robustly.</a:t>
            </a:r>
          </a:p>
          <a:p>
            <a:pPr/>
            <a:r>
              <a:t>Provide near real-time prediction.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6. MODULE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Collection: PaySim, CICIDS, IEEE, BankSim, uploads.</a:t>
            </a:r>
          </a:p>
          <a:p>
            <a:pPr/>
            <a:r>
              <a:t>Data Preprocessing: cleaning, imputation, scaling, leakage removal.</a:t>
            </a:r>
          </a:p>
          <a:p>
            <a:pPr/>
            <a:r>
              <a:t>Feature Engineering: time, device, aggregates, encodings.</a:t>
            </a:r>
          </a:p>
          <a:p>
            <a:pPr/>
            <a:r>
              <a:t>Model Training: LR, RF, XGBoost, Isolation Forest, Autoencoder.</a:t>
            </a:r>
          </a:p>
          <a:p>
            <a:pPr/>
            <a:r>
              <a:t>Prediction System: thresholding, scoring, persistence.</a:t>
            </a:r>
          </a:p>
          <a:p>
            <a:pPr/>
            <a:r>
              <a:t>UI: Streamlit dashboard (train/demo/explain).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7. 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Flow: User Input → Preprocessing → Model → Prediction → Output (risk + explanation).</a:t>
            </a:r>
          </a:p>
          <a:p>
            <a:pPr/>
            <a:r>
              <a:t>Components: Data Loader → Preprocessor → Model Service → UI.</a:t>
            </a:r>
          </a:p>
          <a:p>
            <a:pPr/>
            <a:r>
              <a:t>Tech stack: Python, scikit-learn, XGBoost, imbalanced-learn, SHAP, Streamlit.</a:t>
            </a:r>
          </a:p>
          <a:p>
            <a:pPr/>
            <a:r>
              <a:t>[SPACE FOR ARCHITECTURE DIAGRAM]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8. DEVELOPMENT &amp;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Model building: pipeline with CV, hyperparameter tuning, threshold selection.</a:t>
            </a:r>
          </a:p>
          <a:p>
            <a:pPr/>
            <a:r>
              <a:t>Integration: save models/metrics in models/, wire Streamlit UI to model.</a:t>
            </a:r>
          </a:p>
          <a:p>
            <a:pPr/>
            <a:r>
              <a:t>Problems: data leakage, imbalance, mismatched features.</a:t>
            </a:r>
          </a:p>
          <a:p>
            <a:pPr/>
            <a:r>
              <a:t>Solutions: remove leakage cols, SMOTE/Tomek, schema validation.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9. PROTOTYPE / FRAMEWORK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Working flow: select/upload dataset → preprocess → train/choose model → live predict.</a:t>
            </a:r>
          </a:p>
          <a:p>
            <a:pPr/>
            <a:r>
              <a:t>Live prediction: sample transaction input → model returns probability + SHAP explanation.</a:t>
            </a:r>
          </a:p>
          <a:p>
            <a:pPr/>
            <a:r>
              <a:t>Run demo: streamlit run app.py → open http://localhost:8501.</a:t>
            </a:r>
          </a:p>
          <a:p>
            <a:pPr/>
            <a:r>
              <a:t>[SPACE FOR DEMO SCREENSHOT]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10. OUTCOME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Fraud transactions successfully detected in prototype.</a:t>
            </a:r>
          </a:p>
          <a:p>
            <a:pPr/>
            <a:r>
              <a:t>Real-time prediction and risk scoring functional.</a:t>
            </a:r>
          </a:p>
          <a:p>
            <a:pPr/>
            <a:r>
              <a:t>Multi-dataset support and model comparisons available.</a:t>
            </a:r>
          </a:p>
          <a:p>
            <a:pPr/>
            <a:r>
              <a:t>Explainability (SHAP/LIME) present for each prediction.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11.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metrics (PaySim): RF — Acc 0.931; Prec 0.998; Rec 0.997; F1 0.998.</a:t>
            </a:r>
          </a:p>
          <a:p>
            <a:pPr/>
            <a:r>
              <a:t>XGBoost — Acc 0.987; Prec 0.994; Rec 0.997; F1 0.995.</a:t>
            </a:r>
          </a:p>
          <a:p>
            <a:pPr/>
            <a:r>
              <a:t>Logistic Regression — baseline: good recall, lower precision.</a:t>
            </a:r>
          </a:p>
          <a:p>
            <a:pPr/>
            <a:r>
              <a:t>Confusion matrix explained: TP detected fraud; FP legitimate flagged; FN missed fraud; TN correct legit.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12. TIMELINE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 1: Dataset collection and EDA.</a:t>
            </a:r>
          </a:p>
          <a:p>
            <a:pPr/>
            <a:r>
              <a:t>Week 2: Data cleaning, preprocessing, feature engineering.</a:t>
            </a:r>
          </a:p>
          <a:p>
            <a:pPr/>
            <a:r>
              <a:t>Week 3: Model training, CV, threshold tuning.</a:t>
            </a:r>
          </a:p>
          <a:p>
            <a:pPr/>
            <a:r>
              <a:t>Week 4: Testing, evaluation, explainability integration.</a:t>
            </a:r>
          </a:p>
          <a:p>
            <a:pPr/>
            <a:r>
              <a:t>Week 5: UI (Streamlit) development and demo prep.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13.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Bolton, R. J., &amp; Hand, D. J. (2002). Statistical fraud detection: A review. Journal of Financial Crime.</a:t>
            </a:r>
          </a:p>
          <a:p>
            <a:pPr/>
            <a:r>
              <a:t>Ngai, E. W. T., et al. (2011). The application of data mining techniques in financial fraud detection. Decision Support Systems.</a:t>
            </a:r>
          </a:p>
          <a:p>
            <a:pPr/>
            <a:r>
              <a:t>Chen, T., &amp; Guestrin, C. (2016). XGBoost: A scalable tree boosting system. KDD Proceedings.</a:t>
            </a:r>
          </a:p>
          <a:p>
            <a:pPr/>
            <a:r>
              <a:t>Lundberg, S. M., &amp; Lee, S.-I. (2017). A unified approach to interpreting model predictions. NIPS Workshop.</a:t>
            </a:r>
          </a:p>
          <a:p>
            <a:pPr/>
            <a:r>
              <a:t>Chawla, N. V., et al. (2002). SMOTE. Journal of AI Research.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15704</TotalTime>
  <Words>478</Words>
  <Application>Microsoft Office PowerPoint</Application>
  <PresentationFormat>Custom</PresentationFormat>
  <Paragraphs>129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Times New Roman</vt:lpstr>
      <vt:lpstr>Wingdings</vt:lpstr>
      <vt:lpstr>Office Theme</vt:lpstr>
      <vt:lpstr>&lt;&lt;PROJECT TITLE **TIMES NEW ROMAN FONT SIZE 39**&gt;&gt;</vt:lpstr>
      <vt:lpstr>CONTENTS</vt:lpstr>
      <vt:lpstr>1.ABSTRACT</vt:lpstr>
      <vt:lpstr>2. INTRODUCTION</vt:lpstr>
      <vt:lpstr>3.LITERATURE SURVEY</vt:lpstr>
      <vt:lpstr>LITERATURE SURVEY (CONTD..,)</vt:lpstr>
      <vt:lpstr>LITERATURE SURVEY (CONTD..,)</vt:lpstr>
      <vt:lpstr>4. RESEARCH GAPS</vt:lpstr>
      <vt:lpstr>5. OBJECTIVES</vt:lpstr>
      <vt:lpstr>6. MODULE IDENTIFICATION</vt:lpstr>
      <vt:lpstr>7. SYSTEM ARCHITECTURE</vt:lpstr>
      <vt:lpstr>8. DEVELOPMENT &amp; INTEGRATION</vt:lpstr>
      <vt:lpstr>9. PROTOTYPE / RESEARCH FRAMEWORK</vt:lpstr>
      <vt:lpstr>10. OUTCOME</vt:lpstr>
      <vt:lpstr>11. RESULTS</vt:lpstr>
      <vt:lpstr>12. TIMELINE / GANTT CHART</vt:lpstr>
      <vt:lpstr>13. REFERENCES</vt:lpstr>
      <vt:lpstr>REFERENCES (CONTD..,)</vt:lpstr>
      <vt:lpstr>REFERENCES (CONTD..,)</vt:lpstr>
      <vt:lpstr>REFERENCES (CONTD..,)</vt:lpstr>
      <vt:lpstr>REFERENCES (CONTD..,)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APPROACH TO REDUCE LOAD ON CHANGE IMPACT ANALYSIS OVER SOFTWARE DEVELOPMENT</dc:title>
  <dc:creator>admin</dc:creator>
  <cp:lastModifiedBy>Graceline Jasmine</cp:lastModifiedBy>
  <cp:revision>127</cp:revision>
  <dcterms:created xsi:type="dcterms:W3CDTF">2020-07-13T09:49:45Z</dcterms:created>
  <dcterms:modified xsi:type="dcterms:W3CDTF">2026-03-30T08:45:34Z</dcterms:modified>
</cp:coreProperties>
</file>