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324" r:id="rId3"/>
    <p:sldId id="259" r:id="rId4"/>
    <p:sldId id="260" r:id="rId5"/>
    <p:sldId id="325" r:id="rId6"/>
    <p:sldId id="264" r:id="rId7"/>
    <p:sldId id="323" r:id="rId8"/>
    <p:sldId id="333" r:id="rId9"/>
    <p:sldId id="334" r:id="rId10"/>
    <p:sldId id="265" r:id="rId11"/>
    <p:sldId id="312" r:id="rId12"/>
    <p:sldId id="328" r:id="rId13"/>
    <p:sldId id="330" r:id="rId14"/>
    <p:sldId id="331" r:id="rId15"/>
    <p:sldId id="332" r:id="rId16"/>
    <p:sldId id="327" r:id="rId17"/>
    <p:sldId id="316" r:id="rId18"/>
    <p:sldId id="317" r:id="rId19"/>
    <p:sldId id="318" r:id="rId20"/>
    <p:sldId id="319" r:id="rId21"/>
    <p:sldId id="320" r:id="rId22"/>
    <p:sldId id="321" r:id="rId23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42" r:id="rId36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931" y="53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&lt;&lt;PROJECT TITLE **TIMES NEW ROMAN FONT SIZE 39**&gt;&gt;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398272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Project Work Review-II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Presented by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&lt;&lt;STUDENT NAME (STUDENT REGISTER NO)&gt;&gt;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</a:t>
            </a:r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Computer Science and Engineering (SPECILAZATION)&gt;&gt;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Under the Guidance of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&lt;&lt;GUIDE NAME&gt;&gt;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&lt;&lt;GUIDE DESIGNATION&gt;&gt;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Vellore Institute of Technology, Chennai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026" name="Picture 2" descr="VIT Logo">
            <a:extLst>
              <a:ext uri="{FF2B5EF4-FFF2-40B4-BE49-F238E27FC236}">
                <a16:creationId xmlns:a16="http://schemas.microsoft.com/office/drawing/2014/main" id="{3480622C-94EE-8879-D91B-FCEDA7BB9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591" y="1831079"/>
            <a:ext cx="4716417" cy="128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0000"/>
                </a:solidFill>
              </a:rPr>
              <a:t>Name: Shambhu Pandey    Reg No: 25MCA1020    Guide: Tamilrashi</a:t>
            </a:r>
          </a:p>
        </p:txBody>
      </p:sp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 fontScale="850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IDENTIFICATION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INTEGRATION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/ RESEARCH FRAMEWORK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6880"/>
            <a:ext cx="11704320" cy="4827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MORE THAN 200 WORDS FONT TIMES NEW ROMAN SIZE 24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/>
              <a:t>Brief summary of project including problem, methodology, and expected outcome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/>
              <a:t>Overview of problem domain, motivation, and objectives (max 150 words)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 SIZE 24&gt;&gt;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8538444"/>
              </p:ext>
            </p:extLst>
          </p:nvPr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0043257"/>
              </p:ext>
            </p:extLst>
          </p:nvPr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66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940012"/>
              </p:ext>
            </p:extLst>
          </p:nvPr>
        </p:nvGraphicFramePr>
        <p:xfrm>
          <a:off x="685799" y="1669892"/>
          <a:ext cx="11475720" cy="235956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9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24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 RESEARCH GAPS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66A5-DEC6-423E-4642-6DAA4690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D02-AB68-99CB-182A-0A2671D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GB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5.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A4E0E-51B9-057E-EB16-03F09679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8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 MODULE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&lt;&lt; </a:t>
            </a:r>
            <a:r>
              <a:rPr lang="en-US" sz="2400" dirty="0"/>
              <a:t>• Identify key modules/subsystems</a:t>
            </a:r>
          </a:p>
          <a:p>
            <a:r>
              <a:rPr lang="en-US" sz="2400" dirty="0"/>
              <a:t>• Define functionality of each module</a:t>
            </a:r>
          </a:p>
          <a:p>
            <a:r>
              <a:rPr lang="en-US" sz="2400" dirty="0"/>
              <a:t>• Show module interaction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FONT TIMES NEW ROMAN SIZE 24&gt;&gt;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Overall architecture diagram</a:t>
            </a:r>
          </a:p>
          <a:p>
            <a:r>
              <a:rPr lang="en-US" sz="2800" dirty="0"/>
              <a:t>• Data flow between modules</a:t>
            </a:r>
          </a:p>
          <a:p>
            <a:r>
              <a:rPr lang="en-US" sz="2800" dirty="0"/>
              <a:t>• Technology stack used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FONT TIMES NEW ROMAN&gt;&gt;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4F7B-448F-5933-E4F5-9F6656AC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1540-D08A-936D-657B-2CA7AA0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8. DEVELOPMENT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C32F-FDCF-2099-8C99-4CD33048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Implementation of modules</a:t>
            </a:r>
          </a:p>
          <a:p>
            <a:r>
              <a:rPr lang="en-US" sz="2800" dirty="0"/>
              <a:t>• Integration strategy</a:t>
            </a:r>
          </a:p>
          <a:p>
            <a:r>
              <a:rPr lang="en-US" sz="2800" dirty="0"/>
              <a:t>• Challenges faced and solutions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9C87-894B-EA46-CE5B-2DDA46DB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43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F5EA-D62B-1983-B948-F514CA25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38A4-31C7-3BA3-41EC-856FFC3F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9. PROTOTYPE / RESEARCH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CD9C-F660-95CA-73DE-982F8EE86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Working prototype description</a:t>
            </a:r>
          </a:p>
          <a:p>
            <a:r>
              <a:rPr lang="en-US" sz="2800" dirty="0"/>
              <a:t>OR</a:t>
            </a:r>
          </a:p>
          <a:p>
            <a:r>
              <a:rPr lang="en-US" sz="2800" dirty="0"/>
              <a:t>• Research framework setup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3B01-BF0B-D797-AC89-252288DA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04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Working model screenshots/results</a:t>
            </a:r>
          </a:p>
          <a:p>
            <a:r>
              <a:rPr lang="en-US" sz="2800" dirty="0"/>
              <a:t>OR</a:t>
            </a:r>
          </a:p>
          <a:p>
            <a:r>
              <a:rPr lang="en-US" sz="2800" dirty="0"/>
              <a:t>• Data classification &amp; analysis</a:t>
            </a:r>
          </a:p>
          <a:p>
            <a:r>
              <a:rPr lang="en-US" sz="2800" dirty="0"/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C8D-B43E-DA7C-E00A-0FC4EA18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6AA-E1C2-EA6C-246E-CC1479CD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11.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D4B1E-A9C5-0A84-607D-7CB161B46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Performance metrics</a:t>
            </a:r>
          </a:p>
          <a:p>
            <a:r>
              <a:rPr lang="en-US" sz="2800" dirty="0"/>
              <a:t>• Observations</a:t>
            </a:r>
          </a:p>
          <a:p>
            <a:r>
              <a:rPr lang="en-US" sz="2800" dirty="0"/>
              <a:t>• Validation of approach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B0C0-AF3E-C46D-0A00-DD8E18E7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99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762000" y="1981200"/>
            <a:ext cx="110490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Planned vs completed tasks</a:t>
            </a:r>
          </a:p>
          <a:p>
            <a:r>
              <a:rPr lang="en-US" dirty="0"/>
              <a:t>• Next milestones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13.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Lock, S., &amp; Kotonya, G. (1999). An integrated, probabilistic framework for requirement change impact analysis. Australasian Journal of Information Systems, 6(2).</a:t>
            </a:r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HOW TO CITE A PAPER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GO TO GOOGLE SCHOLAR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GIVE THE PAPER TITLE IN SEARCH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ONCE THE PAPER WHAT YOU HAVE SEARCHED FOR IS LISTED 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CHOOSE CITE AT THE BOTTOM OF THE PAPER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SELECT APA FORMAT AND COPY IT HERE</a:t>
            </a:r>
          </a:p>
          <a:p>
            <a:pPr marL="0" indent="0" algn="just">
              <a:buNone/>
            </a:pPr>
            <a:endParaRPr lang="en-US"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0A5351-9EAA-8306-D86D-CD6AE061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95600"/>
            <a:ext cx="6049219" cy="2886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59EC38-0956-1847-653C-51980FBF8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083002"/>
            <a:ext cx="4402728" cy="293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59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9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25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56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06880"/>
            <a:ext cx="11521440" cy="438912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29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real-time fraud detection dashboard with UPI simulation</a:t>
            </a:r>
          </a:p>
          <a:p>
            <a:pPr/>
            <a:r>
              <a:t>Support multiple datasets (PaySim, CICIDS, IEEE, BankSim)</a:t>
            </a:r>
          </a:p>
          <a:p>
            <a:pPr/>
            <a:r>
              <a:t>Provide explainability (SHAP/LIME) and digital twin simulations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PaySim  -  Payment Fraud</a:t>
            </a:r>
          </a:p>
          <a:p>
            <a:pPr/>
            <a:r>
              <a:t>Source file: data/paysim_clean.csv</a:t>
            </a:r>
          </a:p>
          <a:p>
            <a:pPr/>
            <a:r>
              <a:t>Target column: isFraud</a:t>
            </a:r>
          </a:p>
          <a:p>
            <a:pPr/>
            <a:r>
              <a:t>Sample size (default): 250000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preprocessing: imputation, normalization, leakage removal</a:t>
            </a:r>
          </a:p>
          <a:p>
            <a:pPr/>
            <a:r>
              <a:t>Imbalance handling: SMOTE / resampling</a:t>
            </a:r>
          </a:p>
          <a:p>
            <a:pPr/>
            <a:r>
              <a:t>Models: Logistic Regression, Random Forest, XGBoost, Isolation Forest, Autoencoder</a:t>
            </a:r>
          </a:p>
          <a:p>
            <a:pPr/>
            <a:r>
              <a:t>Model selection via cross-validation and metrics (Precision/Recall/F1/ROC-AUC)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&amp; 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PaySim  -  Payment Fraud</a:t>
            </a:r>
          </a:p>
          <a:p>
            <a:pPr/>
            <a:r>
              <a:t>Recommended model: Random Forest</a:t>
            </a:r>
          </a:p>
          <a:p>
            <a:pPr/>
            <a:r>
              <a:t>Logistic Regression — Acc: 0.890, Prec: 0.207, Rec: 0.878, F1: 0.335, Thr: 0.225</a:t>
            </a:r>
          </a:p>
          <a:p>
            <a:pPr/>
            <a:r>
              <a:t>Random Forest — Acc: 0.931, Prec: 0.998, Rec: 0.997, F1: 0.998, Thr: 0.005</a:t>
            </a:r>
          </a:p>
          <a:p>
            <a:pPr/>
            <a:r>
              <a:t>XGBoost — Acc: 0.987, Prec: 0.994, Rec: 0.997, F1: 0.995, Thr: 1.0</a:t>
            </a:r>
          </a:p>
          <a:p>
            <a:pPr/>
            <a:r>
              <a:t>Isolation Forest — Acc: 0.858, Prec: 0.013, Rec: 1.000, F1: 0.025, Thr: 0.54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Artifacts &amp;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Saved models: models/ (timestamps + names)</a:t>
            </a:r>
          </a:p>
          <a:p>
            <a:pPr/>
            <a:r>
              <a:t>Evaluation metrics: models/evaluation_metrics.json</a:t>
            </a:r>
          </a:p>
          <a:p>
            <a:pPr/>
            <a:r>
              <a:t>Selected thresholds: models/thresholds_selected.json</a:t>
            </a:r>
          </a:p>
          <a:p>
            <a:pPr/>
            <a:r>
              <a:t>Prediction checks: models/prediction_checks.csv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Demo — Project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08080"/>
                </a:solidFill>
              </a:rPr>
              <a:t>[PASTE DEMO PROJECT SCREENSHOT HERE]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High-performing models achieved strong recall and precision on PaySim</a:t>
            </a:r>
          </a:p>
          <a:p>
            <a:pPr/>
            <a:r>
              <a:t>Threshold tuning provides business-driven trade-offs between FP/FN</a:t>
            </a:r>
          </a:p>
          <a:p>
            <a:pPr/>
            <a:r>
              <a:t>Future: deploy model endpoint, online learning, drift monitoring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Student: Shambhu Pandey</a:t>
            </a:r>
          </a:p>
          <a:p>
            <a:pPr/>
            <a:r>
              <a:t>Guide: Tamilrashi</a:t>
            </a:r>
          </a:p>
          <a:p>
            <a:pPr/>
            <a:r>
              <a:t>Tools: Streamlit, scikit-learn, XGBoost, SHAP, LIME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15704</TotalTime>
  <Words>478</Words>
  <Application>Microsoft Office PowerPoint</Application>
  <PresentationFormat>Custom</PresentationFormat>
  <Paragraphs>129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Office Theme</vt:lpstr>
      <vt:lpstr>&lt;&lt;PROJECT TITLE **TIMES NEW ROMAN FONT SIZE 39**&gt;&gt;</vt:lpstr>
      <vt:lpstr>CONTENTS</vt:lpstr>
      <vt:lpstr>1.ABSTRACT</vt:lpstr>
      <vt:lpstr>2. INTRODUCTION</vt:lpstr>
      <vt:lpstr>3.LITERATURE SURVEY</vt:lpstr>
      <vt:lpstr>LITERATURE SURVEY (CONTD..,)</vt:lpstr>
      <vt:lpstr>LITERATURE SURVEY (CONTD..,)</vt:lpstr>
      <vt:lpstr>4. RESEARCH GAPS</vt:lpstr>
      <vt:lpstr>5. OBJECTIVES</vt:lpstr>
      <vt:lpstr>6. MODULE IDENTIFICATION</vt:lpstr>
      <vt:lpstr>7. SYSTEM ARCHITECTURE</vt:lpstr>
      <vt:lpstr>8. DEVELOPMENT &amp; INTEGRATION</vt:lpstr>
      <vt:lpstr>9. PROTOTYPE / RESEARCH FRAMEWORK</vt:lpstr>
      <vt:lpstr>10. OUTCOME</vt:lpstr>
      <vt:lpstr>11. RESULTS</vt:lpstr>
      <vt:lpstr>12. TIMELINE / GANTT CHART</vt:lpstr>
      <vt:lpstr>13. REFERENCES</vt:lpstr>
      <vt:lpstr>REFERENCES (CONTD..,)</vt:lpstr>
      <vt:lpstr>REFERENCES (CONTD..,)</vt:lpstr>
      <vt:lpstr>REFERENCES (CONTD..,)</vt:lpstr>
      <vt:lpstr>REFERENCES (CONTD..,)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Graceline Jasmine</cp:lastModifiedBy>
  <cp:revision>127</cp:revision>
  <dcterms:created xsi:type="dcterms:W3CDTF">2020-07-13T09:49:45Z</dcterms:created>
  <dcterms:modified xsi:type="dcterms:W3CDTF">2026-03-30T08:45:34Z</dcterms:modified>
</cp:coreProperties>
</file>